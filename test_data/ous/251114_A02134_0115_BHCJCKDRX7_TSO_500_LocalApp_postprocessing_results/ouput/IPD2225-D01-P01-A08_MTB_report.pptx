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2" r:id="rId3"/>
    <p:sldId id="269" r:id="rId4"/>
    <p:sldId id="274" r:id="rId6"/>
    <p:sldId id="267" r:id="rId7"/>
    <p:sldId id="268" r:id="rId8"/>
    <p:sldId id="266" r:id="rId9"/>
    <p:sldId id="279" r:id="rId10"/>
    <p:sldId id="281" r:id="rId15"/>
    <p:sldId id="282" r:id="rId16"/>
    <p:sldId id="283" r:id="rId17"/>
    <p:sldId id="284" r:id="rId18"/>
    <p:sldId id="28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3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F1"/>
    <a:srgbClr val="FFFFCC"/>
    <a:srgbClr val="FFFFFF"/>
    <a:srgbClr val="DCF0FA"/>
    <a:srgbClr val="FF9999"/>
    <a:srgbClr val="FFCC99"/>
    <a:srgbClr val="FFCCCC"/>
    <a:srgbClr val="CCECFF"/>
    <a:srgbClr val="CC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howGuides="1">
      <p:cViewPr varScale="1">
        <p:scale>
          <a:sx n="127" d="100"/>
          <a:sy n="127" d="100"/>
        </p:scale>
        <p:origin x="966" y="120"/>
      </p:cViewPr>
      <p:guideLst>
        <p:guide orient="horz" pos="1563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BAA81-237B-44BB-AF30-64C19C0C1774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27242-C1B0-4509-A0B0-367918C063F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following slide will be distributed for preparation before </a:t>
            </a:r>
            <a:br>
              <a:rPr lang="en-US" dirty="0" smtClean="0"/>
            </a:br>
            <a:r>
              <a:rPr lang="en-US" dirty="0" smtClean="0"/>
              <a:t>the pre-</a:t>
            </a:r>
            <a:r>
              <a:rPr lang="en-US" dirty="0" err="1" smtClean="0"/>
              <a:t>Mol</a:t>
            </a:r>
            <a:r>
              <a:rPr lang="en-US" dirty="0"/>
              <a:t>-</a:t>
            </a:r>
            <a:r>
              <a:rPr lang="en-US" dirty="0" smtClean="0"/>
              <a:t>MDT meeting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547664" y="2499741"/>
            <a:ext cx="6624736" cy="2094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</a:t>
            </a:r>
            <a:r>
              <a:rPr lang="en-US" sz="2000" dirty="0" smtClean="0"/>
              <a:t>o clinical data such as </a:t>
            </a:r>
            <a:r>
              <a:rPr lang="en-US" sz="2000" dirty="0">
                <a:sym typeface="+mn-ea"/>
              </a:rPr>
              <a:t>sex, age, year of diagnosis, clinical diagnosis or material block number in the following slide</a:t>
            </a:r>
            <a:r>
              <a:rPr lang="en-US" sz="2000" dirty="0" smtClean="0">
                <a:sym typeface="+mn-ea"/>
              </a:rPr>
              <a:t>.</a:t>
            </a:r>
            <a:endParaRPr 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233900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0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" name="Rectangle 63"/>
          <p:cNvSpPr/>
          <p:nvPr/>
        </p:nvSpPr>
        <p:spPr>
          <a:xfrm>
            <a:off x="7295040" y="684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5" name="Rectangle 73"/>
          <p:cNvSpPr/>
          <p:nvPr/>
        </p:nvSpPr>
        <p:spPr>
          <a:xfrm>
            <a:off x="1080" y="74880"/>
            <a:ext cx="503640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xx</a:t>
            </a: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0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FFFFFF"/>
                </a:solidFill>
                <a:latin typeface="Calibri"/>
              </a:rPr>
              <a:t>XXX</a:t>
            </a:r>
            <a:endParaRPr lang="en-US" sz="12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 dirty="0" smtClean="0">
                <a:solidFill>
                  <a:srgbClr val="FFFFFF"/>
                </a:solidFill>
                <a:latin typeface="Calibri"/>
              </a:rPr>
              <a:t>2022</a:t>
            </a: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"/>
          <p:cNvSpPr/>
          <p:nvPr/>
        </p:nvSpPr>
        <p:spPr>
          <a:xfrm>
            <a:off x="1660319" y="1923678"/>
            <a:ext cx="4883001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u="sng" spc="-1" dirty="0" smtClean="0"/>
              <a:t>Description of </a:t>
            </a:r>
            <a:r>
              <a:rPr lang="en-US" sz="800" u="sng" spc="-1" dirty="0" err="1" smtClean="0">
                <a:latin typeface="Calibri"/>
              </a:rPr>
              <a:t>InPreD</a:t>
            </a:r>
            <a:r>
              <a:rPr lang="en-US" sz="800" u="sng" spc="-1" dirty="0" smtClean="0">
                <a:latin typeface="Calibri"/>
              </a:rPr>
              <a:t> calculations: </a:t>
            </a:r>
            <a:endParaRPr lang="en-US" sz="800" u="sng" strike="noStrike" spc="-1" dirty="0" smtClean="0">
              <a:latin typeface="Calibri"/>
            </a:endParaRPr>
          </a:p>
          <a:p>
            <a:r>
              <a:rPr lang="en-US" sz="800" spc="-1" dirty="0"/>
              <a:t>Tumor Mutation </a:t>
            </a:r>
            <a:r>
              <a:rPr lang="en-US" sz="800" spc="-1" dirty="0" smtClean="0"/>
              <a:t>Burden, </a:t>
            </a:r>
            <a:r>
              <a:rPr lang="en-US" sz="800" b="0" strike="noStrike" spc="-1" dirty="0" smtClean="0"/>
              <a:t>TMB (</a:t>
            </a:r>
            <a:r>
              <a:rPr lang="en-US" sz="800" b="0" strike="noStrike" spc="-1" dirty="0"/>
              <a:t>DRUP equivalent): VAF</a:t>
            </a:r>
            <a:r>
              <a:rPr lang="en-US" sz="800" b="0" strike="noStrike" spc="-1" dirty="0" smtClean="0"/>
              <a:t>&gt;=0.05</a:t>
            </a:r>
            <a:r>
              <a:rPr lang="en-US" sz="800" b="0" strike="noStrike" spc="-1" dirty="0"/>
              <a:t>, depth</a:t>
            </a:r>
            <a:r>
              <a:rPr lang="en-US" sz="800" b="0" strike="noStrike" spc="-1" dirty="0" smtClean="0"/>
              <a:t>&gt;=50</a:t>
            </a:r>
            <a:r>
              <a:rPr lang="en-US" sz="800" b="0" strike="noStrike" spc="-1" dirty="0"/>
              <a:t>, </a:t>
            </a:r>
            <a:r>
              <a:rPr lang="en-US" sz="800" b="0" strike="noStrike" spc="-1" dirty="0" smtClean="0"/>
              <a:t>excludes </a:t>
            </a:r>
            <a:r>
              <a:rPr lang="en-US" sz="800" b="0" strike="noStrike" spc="-1" dirty="0"/>
              <a:t>synonymous.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*</a:t>
            </a:r>
            <a:r>
              <a:rPr lang="en-US" sz="800" spc="-1" dirty="0"/>
              <a:t>If tumor only, the somatic and germline origin of some of the assessed variants is uncertain which may cause the TMB value to be overestimated. </a:t>
            </a:r>
            <a:endParaRPr lang="en-US" sz="800" spc="-1" dirty="0" smtClean="0"/>
          </a:p>
          <a:p>
            <a:r>
              <a:rPr lang="en-US" sz="800" b="0" strike="noStrike" spc="-1" dirty="0" smtClean="0"/>
              <a:t>Observed TMB: </a:t>
            </a:r>
            <a:r>
              <a:rPr lang="en-US" sz="800" b="0" strike="noStrike" spc="-1" dirty="0"/>
              <a:t>Eligible variant / Effective Panel </a:t>
            </a:r>
            <a:r>
              <a:rPr lang="en-US" sz="800" spc="-1" dirty="0"/>
              <a:t>Size </a:t>
            </a:r>
            <a:r>
              <a:rPr lang="en-US" sz="800" spc="-1" dirty="0" smtClean="0"/>
              <a:t>(Millions of bases): </a:t>
            </a:r>
            <a:endParaRPr lang="en-US" sz="800" spc="-1" dirty="0" smtClean="0"/>
          </a:p>
          <a:p>
            <a:r>
              <a:rPr lang="en-US" sz="800" spc="-1" dirty="0"/>
              <a:t>TMB is not available (</a:t>
            </a:r>
            <a:r>
              <a:rPr lang="en-US" sz="800" spc="-1" dirty="0" smtClean="0"/>
              <a:t>blank) </a:t>
            </a:r>
            <a:r>
              <a:rPr lang="en-US" sz="800" spc="-1" dirty="0"/>
              <a:t>when Effective Panel Size &lt;  1.14 (90% of the target bases have read depth at least 50). Manual inspection is needed. </a:t>
            </a:r>
            <a:endParaRPr lang="en-US" sz="800" b="0" strike="noStrike" spc="-1" dirty="0" smtClean="0"/>
          </a:p>
          <a:p>
            <a:r>
              <a:rPr lang="en-US" sz="800" spc="-1" dirty="0"/>
              <a:t>Indicative threshold for Microsatellite (MS) status: Unstable if proportion of unstable MS sites ≥ 20%, Likely unstable when between 20% and &gt;=10%, otherwise stable. Unreliable when </a:t>
            </a:r>
            <a:r>
              <a:rPr lang="en-US" sz="800" spc="-1" dirty="0" smtClean="0"/>
              <a:t>number </a:t>
            </a:r>
            <a:r>
              <a:rPr lang="en-US" sz="800" spc="-1" dirty="0"/>
              <a:t>of usable sites is less than </a:t>
            </a:r>
            <a:r>
              <a:rPr lang="en-US" sz="800" spc="-1" dirty="0" smtClean="0"/>
              <a:t>40.</a:t>
            </a:r>
            <a:endParaRPr lang="en-US" sz="800" spc="-1" dirty="0" smtClean="0"/>
          </a:p>
          <a:p>
            <a:endParaRPr lang="en-US" sz="8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800" u="sng" spc="-1" dirty="0" smtClean="0"/>
              <a:t>Reports from the </a:t>
            </a:r>
            <a:r>
              <a:rPr lang="en-US" sz="800" b="0" u="sng" strike="noStrike" spc="-1" dirty="0" err="1" smtClean="0"/>
              <a:t>LocalApp</a:t>
            </a:r>
            <a:r>
              <a:rPr lang="en-US" sz="800" b="0" u="sng" strike="noStrike" spc="-1" dirty="0" smtClean="0"/>
              <a:t> from Illumina:</a:t>
            </a:r>
            <a:endParaRPr lang="en-US" sz="800" b="0" strike="noStrike" spc="-1" dirty="0" smtClean="0"/>
          </a:p>
          <a:p>
            <a:r>
              <a:rPr lang="en-US" sz="800" b="0" strike="noStrike" spc="-1" dirty="0" smtClean="0"/>
              <a:t>TMB </a:t>
            </a:r>
            <a:r>
              <a:rPr lang="en-US" sz="800" spc="-1" dirty="0" smtClean="0"/>
              <a:t>includes </a:t>
            </a:r>
            <a:r>
              <a:rPr lang="en-US" sz="800" spc="-1" dirty="0"/>
              <a:t>synonymous </a:t>
            </a:r>
            <a:r>
              <a:rPr lang="en-US" sz="800" b="0" strike="noStrike" spc="-1" dirty="0" smtClean="0"/>
              <a:t>(eligible variants): </a:t>
            </a:r>
            <a:endParaRPr lang="en-US" sz="800" b="0" strike="noStrike" spc="-1" dirty="0" smtClean="0"/>
          </a:p>
          <a:p>
            <a:r>
              <a:rPr lang="en-US" sz="800" spc="-1" dirty="0"/>
              <a:t>P</a:t>
            </a:r>
            <a:r>
              <a:rPr lang="en-US" sz="800" b="0" strike="noStrike" spc="-1" dirty="0" smtClean="0"/>
              <a:t>ercentage of unstable MS sites </a:t>
            </a:r>
            <a:r>
              <a:rPr lang="en-US" sz="800" b="0" strike="noStrike" spc="-1" dirty="0"/>
              <a:t>(</a:t>
            </a:r>
            <a:r>
              <a:rPr lang="en-US" sz="800" spc="-1" dirty="0"/>
              <a:t>unstable / </a:t>
            </a:r>
            <a:r>
              <a:rPr lang="en-US" sz="800" spc="-1" dirty="0" smtClean="0"/>
              <a:t>usable MS </a:t>
            </a:r>
            <a:r>
              <a:rPr lang="en-US" sz="800" b="0" strike="noStrike" spc="-1" dirty="0" smtClean="0"/>
              <a:t>site count):</a:t>
            </a:r>
            <a:r>
              <a:rPr lang="en-US" sz="800" spc="-1" dirty="0" smtClean="0"/>
              <a:t>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F</a:t>
            </a:r>
            <a:r>
              <a:rPr lang="en-US" sz="800" b="0" strike="noStrike" spc="-1" dirty="0" smtClean="0"/>
              <a:t>usion filter criteria: at least 3 unique supporting reads, one of which must be a split read (a single read covering the fusion breakpoint). </a:t>
            </a:r>
            <a:r>
              <a:rPr lang="en-US" sz="800" spc="-1" dirty="0" smtClean="0"/>
              <a:t>Splice variant with involved exons in parenthesis.</a:t>
            </a:r>
            <a:endParaRPr lang="en-US" sz="800" b="0" strike="noStrike" spc="-1" dirty="0" smtClean="0"/>
          </a:p>
          <a:p>
            <a:endParaRPr lang="en-US" sz="800" spc="-1" dirty="0"/>
          </a:p>
          <a:p>
            <a:r>
              <a:rPr lang="en-US" sz="800" u="sng" spc="-1" dirty="0" smtClean="0"/>
              <a:t>Initial report: </a:t>
            </a:r>
            <a:endParaRPr lang="en-US" sz="800" u="sng" spc="-1" dirty="0"/>
          </a:p>
          <a:p>
            <a:r>
              <a:rPr lang="en-US" sz="800" spc="-1" dirty="0"/>
              <a:t>Orange header refers to this report being in the initial reporting phase. In the final report for </a:t>
            </a:r>
            <a:r>
              <a:rPr lang="en-US" sz="800" spc="-1" dirty="0" err="1"/>
              <a:t>Mol</a:t>
            </a:r>
            <a:r>
              <a:rPr lang="en-US" sz="800" spc="-1" dirty="0"/>
              <a:t>-MDT the header will be blue. </a:t>
            </a:r>
            <a:endParaRPr lang="en-US" sz="800" spc="-1" dirty="0"/>
          </a:p>
          <a:p>
            <a:r>
              <a:rPr lang="en-US" sz="800" spc="-1" dirty="0">
                <a:sym typeface="+mn-ea"/>
              </a:rPr>
              <a:t>Variants of uncertain significance (VUS) refer to variants with unknown/ unclear / inconclusive / contradictory functional consequence in cancer. Level of evidence for experimental treatment follows ESCAT guidelines and will be defined by the respective study/trial</a:t>
            </a:r>
            <a:r>
              <a:rPr lang="en-US" sz="800" spc="-1" dirty="0" smtClean="0">
                <a:sym typeface="+mn-ea"/>
              </a:rPr>
              <a:t>.</a:t>
            </a:r>
            <a:endParaRPr lang="en-US" sz="800" spc="-1" dirty="0" smtClean="0">
              <a:sym typeface="+mn-ea"/>
            </a:endParaRPr>
          </a:p>
          <a:p>
            <a:r>
              <a:rPr lang="en-US" sz="800" b="0" strike="noStrike" spc="-1" smtClean="0">
                <a:solidFill>
                  <a:schemeClr val="tx1"/>
                </a:solidFill>
                <a:sym typeface="+mn-ea"/>
              </a:rPr>
              <a:t>The tumor 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content is estimated by a pathologist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unless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 otherwise specified. This tumor content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is used as input in the post </a:t>
            </a:r>
            <a:r>
              <a:rPr lang="en-US" sz="800" spc="-1" dirty="0">
                <a:solidFill>
                  <a:schemeClr val="tx1"/>
                </a:solidFill>
                <a:sym typeface="+mn-ea"/>
              </a:rPr>
              <a:t>processing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pipeline (TSOPPI). </a:t>
            </a:r>
            <a:endParaRPr lang="en-US" sz="800" b="0" strike="noStrike" spc="-1" dirty="0" smtClean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2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Rectangle 53"/>
          <p:cNvSpPr/>
          <p:nvPr/>
        </p:nvSpPr>
        <p:spPr>
          <a:xfrm>
            <a:off x="166080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7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5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0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1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66" name="Bilde 6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63"/>
          <a:stretch>
            <a:fillRect/>
          </a:stretch>
        </p:blipFill>
        <p:spPr>
          <a:xfrm>
            <a:off x="179070" y="4227830"/>
            <a:ext cx="576580" cy="542925"/>
          </a:xfrm>
          <a:prstGeom prst="rect">
            <a:avLst/>
          </a:prstGeom>
        </p:spPr>
      </p:pic>
      <p:sp>
        <p:nvSpPr>
          <p:cNvPr id="67" name="TekstSylinder 66"/>
          <p:cNvSpPr txBox="1"/>
          <p:nvPr/>
        </p:nvSpPr>
        <p:spPr>
          <a:xfrm>
            <a:off x="647065" y="4493895"/>
            <a:ext cx="9182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Infrastructure for </a:t>
            </a:r>
            <a:endParaRPr lang="en-US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Precision Diagnostics</a:t>
            </a:r>
            <a:endParaRPr lang="nb-NO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8" name="Bilde 6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r="-3477"/>
          <a:stretch>
            <a:fillRect/>
          </a:stretch>
        </p:blipFill>
        <p:spPr>
          <a:xfrm>
            <a:off x="737235" y="4139565"/>
            <a:ext cx="791845" cy="542925"/>
          </a:xfrm>
          <a:prstGeom prst="rect">
            <a:avLst/>
          </a:prstGeom>
        </p:spPr>
      </p:pic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1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3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3" name="TekstSylinder 52"/>
          <p:cNvSpPr txBox="1"/>
          <p:nvPr/>
        </p:nvSpPr>
        <p:spPr>
          <a:xfrm>
            <a:off x="7109460" y="4911725"/>
            <a:ext cx="20345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</a:t>
            </a:r>
            <a:r>
              <a:rPr lang="nb-NO" altLang="en-US" sz="800" dirty="0"/>
              <a:t>nclear</a:t>
            </a:r>
            <a:r>
              <a:rPr lang="en-US" sz="800" dirty="0"/>
              <a:t> significance (VUS)</a:t>
            </a:r>
            <a:endParaRPr lang="en-US" sz="800" dirty="0"/>
          </a:p>
        </p:txBody>
      </p:sp>
      <p:sp>
        <p:nvSpPr>
          <p:cNvPr id="7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28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</a:p>
        </p:txBody>
      </p:sp>
      <p:sp>
        <p:nvSpPr>
          <p:cNvPr id="145" name="TextBox 144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DDX41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M1?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start_lost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R273H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R158P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SMARCA4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T910M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ZNF703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H402fs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AMER1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S868I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LRP1B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V1361L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F172L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D411_L414del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R1671Q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G582E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R678K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C3743Y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21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19</a:t>
            </a:r>
          </a:p>
        </p:txBody>
      </p:sp>
      <p:sp>
        <p:nvSpPr>
          <p:cNvPr id="153" name="Oval 152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00016" y="2404872"/>
            <a:ext cx="4846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/>
            </a:pPr>
            <a:r>
              <a:t>19/1.27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11880" y="3383280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/>
            </a:pPr>
            <a:r>
              <a:t>TMB = 14.9 (19)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80560" y="3511296"/>
            <a:ext cx="1042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MSI = 4.13 (5/121)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/>
          </a:bodyPr>
          <a:lstStyle/>
          <a:p>
            <a:r>
              <a:rPr lang="en-US" dirty="0" smtClean="0"/>
              <a:t>The following slides are for </a:t>
            </a:r>
            <a:br>
              <a:rPr lang="en-US" dirty="0" smtClean="0"/>
            </a:br>
            <a:r>
              <a:rPr lang="en-US" dirty="0" smtClean="0"/>
              <a:t>the molecular tumor board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57200" y="2499741"/>
            <a:ext cx="8229600" cy="20948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 smtClean="0"/>
              <a:t>Contains clinical information from the </a:t>
            </a:r>
            <a:r>
              <a:rPr lang="en-US" sz="2000" dirty="0">
                <a:solidFill>
                  <a:schemeClr val="tx1"/>
                </a:solidFill>
              </a:rPr>
              <a:t>file </a:t>
            </a:r>
            <a:r>
              <a:rPr lang="en-US" sz="2000" dirty="0" smtClean="0">
                <a:solidFill>
                  <a:schemeClr val="tx1"/>
                </a:solidFill>
              </a:rPr>
              <a:t>“</a:t>
            </a:r>
            <a:r>
              <a:rPr lang="en-US" sz="2000" dirty="0" err="1" smtClean="0">
                <a:solidFill>
                  <a:schemeClr val="tx1"/>
                </a:solidFill>
              </a:rPr>
              <a:t>InPreD_PRONTO_metadata</a:t>
            </a:r>
            <a:r>
              <a:rPr lang="en-US" sz="2000" dirty="0" smtClean="0">
                <a:solidFill>
                  <a:schemeClr val="tx1"/>
                </a:solidFill>
              </a:rPr>
              <a:t>”. 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49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4" name="Rectangle 95"/>
          <p:cNvSpPr/>
          <p:nvPr/>
        </p:nvSpPr>
        <p:spPr>
          <a:xfrm>
            <a:off x="1691640" y="733320"/>
            <a:ext cx="67791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CLINICAL CASE: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nb-NO" sz="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Rektangel 87"/>
          <p:cNvSpPr/>
          <p:nvPr/>
        </p:nvSpPr>
        <p:spPr>
          <a:xfrm>
            <a:off x="6621622" y="752436"/>
            <a:ext cx="10423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pc="-1" dirty="0" smtClean="0">
                <a:solidFill>
                  <a:srgbClr val="000000"/>
                </a:solidFill>
              </a:rPr>
              <a:t>BIOMATERIAL:</a:t>
            </a:r>
            <a:endParaRPr lang="en-US" sz="1100" b="1" spc="-1" dirty="0" smtClean="0">
              <a:solidFill>
                <a:srgbClr val="000000"/>
              </a:solidFill>
            </a:endParaRPr>
          </a:p>
        </p:txBody>
      </p:sp>
      <p:sp>
        <p:nvSpPr>
          <p:cNvPr id="1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5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21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ktangel 1"/>
          <p:cNvSpPr/>
          <p:nvPr/>
        </p:nvSpPr>
        <p:spPr>
          <a:xfrm>
            <a:off x="128774" y="4940622"/>
            <a:ext cx="64908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Inclusion</a:t>
            </a:r>
            <a:r>
              <a:rPr lang="nb-NO" sz="7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site</a:t>
            </a:r>
            <a:endParaRPr lang="en-US" sz="700" b="0" strike="noStrike" spc="-1" dirty="0">
              <a:latin typeface="Arial" panose="020B0604020202090204"/>
            </a:endParaRPr>
          </a:p>
        </p:txBody>
      </p:sp>
      <p:grpSp>
        <p:nvGrpSpPr>
          <p:cNvPr id="86" name="Gruppe 41"/>
          <p:cNvGrpSpPr/>
          <p:nvPr/>
        </p:nvGrpSpPr>
        <p:grpSpPr>
          <a:xfrm>
            <a:off x="68535" y="4904277"/>
            <a:ext cx="149517" cy="222810"/>
            <a:chOff x="171000" y="979920"/>
            <a:chExt cx="182160" cy="263520"/>
          </a:xfrm>
        </p:grpSpPr>
        <p:sp>
          <p:nvSpPr>
            <p:cNvPr id="87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42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0" name="Gruppe 49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1" name="Bilde 50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52" name="TekstSylinder 51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53" name="Bilde 5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55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57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59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39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64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5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1" name="TextBox 90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28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91640" y="1143000"/>
            <a:ext cx="2971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Comment_pathy</a:t>
            </a:r>
            <a:br/>
            <a:br/>
            <a:r>
              <a:t>Comment_sample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116" name="Rectangle 55"/>
          <p:cNvSpPr/>
          <p:nvPr/>
        </p:nvSpPr>
        <p:spPr>
          <a:xfrm>
            <a:off x="6630035" y="808355"/>
            <a:ext cx="2447925" cy="690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Rectangle 57"/>
          <p:cNvSpPr/>
          <p:nvPr/>
        </p:nvSpPr>
        <p:spPr>
          <a:xfrm>
            <a:off x="6665760" y="811800"/>
            <a:ext cx="237600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SEQUENCING FACILITY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8" name="Rectangle 58"/>
          <p:cNvSpPr/>
          <p:nvPr/>
        </p:nvSpPr>
        <p:spPr>
          <a:xfrm>
            <a:off x="6537525" y="1059835"/>
            <a:ext cx="263376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altLang="en-US" sz="1000" b="0" strike="noStrike" spc="-1" dirty="0">
                <a:solidFill>
                  <a:srgbClr val="595959"/>
                </a:solidFill>
                <a:latin typeface="Calibri"/>
              </a:rPr>
              <a:t>Department of Pathology</a:t>
            </a: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, 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Oslo University Hospital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0" name="Rectangle 92"/>
          <p:cNvSpPr/>
          <p:nvPr/>
        </p:nvSpPr>
        <p:spPr>
          <a:xfrm>
            <a:off x="1763640" y="338544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pic>
        <p:nvPicPr>
          <p:cNvPr id="122" name="Picture 4" descr="C:\Users\vigdisny\AppData\Local\Microsoft\Windows\INetCache\IE\4VAY8QE2\Green_check.svg[1]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913231" y="1041173"/>
            <a:ext cx="390600" cy="390600"/>
          </a:xfrm>
          <a:prstGeom prst="rect">
            <a:avLst/>
          </a:prstGeom>
          <a:ln w="0">
            <a:noFill/>
          </a:ln>
        </p:spPr>
      </p:pic>
      <p:sp>
        <p:nvSpPr>
          <p:cNvPr id="125" name="Rectangle 92"/>
          <p:cNvSpPr/>
          <p:nvPr/>
        </p:nvSpPr>
        <p:spPr>
          <a:xfrm>
            <a:off x="1746000" y="162756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sp>
        <p:nvSpPr>
          <p:cNvPr id="49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1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3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54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0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76"/>
          <p:cNvSpPr/>
          <p:nvPr/>
        </p:nvSpPr>
        <p:spPr>
          <a:xfrm>
            <a:off x="1684706" y="718003"/>
            <a:ext cx="482400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QUALITY CONTROL MEASURES OF SEQUENCING DATA 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 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44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7" name="Gruppe 5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8" name="Bilde 5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5" name="TekstSylinder 64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1" name="Bilde 7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81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82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88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6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" name="TekstSylinder 1"/>
          <p:cNvSpPr txBox="1"/>
          <p:nvPr/>
        </p:nvSpPr>
        <p:spPr>
          <a:xfrm>
            <a:off x="2261398" y="1000269"/>
            <a:ext cx="274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</a:rPr>
              <a:t>Approved if observed quality metrics are within regions marked green 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28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pic>
        <p:nvPicPr>
          <p:cNvPr id="139" name="Picture 138" descr="IPD2225-D01-P01-A08_sample_QC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417320"/>
            <a:ext cx="3017520" cy="1600200"/>
          </a:xfrm>
          <a:prstGeom prst="rect">
            <a:avLst/>
          </a:prstGeom>
        </p:spPr>
      </p:pic>
      <p:pic>
        <p:nvPicPr>
          <p:cNvPr id="140" name="Picture 139" descr="IPD2225-R03-P01-A08_sample_QC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145536"/>
            <a:ext cx="301752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Box 2"/>
          <p:cNvSpPr/>
          <p:nvPr/>
        </p:nvSpPr>
        <p:spPr>
          <a:xfrm>
            <a:off x="1660320" y="1966273"/>
            <a:ext cx="4883001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spc="-1" dirty="0" smtClean="0">
                <a:latin typeface="Calibri"/>
              </a:rPr>
              <a:t>TMB </a:t>
            </a:r>
            <a:r>
              <a:rPr lang="en-US" sz="900" spc="-1" dirty="0" err="1" smtClean="0">
                <a:latin typeface="Calibri"/>
              </a:rPr>
              <a:t>InPreD</a:t>
            </a:r>
            <a:r>
              <a:rPr lang="en-US" sz="900" spc="-1" dirty="0" smtClean="0">
                <a:latin typeface="Calibri"/>
              </a:rPr>
              <a:t> calculated as </a:t>
            </a:r>
            <a:r>
              <a:rPr lang="en-US" sz="900" b="0" strike="noStrike" spc="-1" dirty="0" smtClean="0"/>
              <a:t>Eligible </a:t>
            </a:r>
            <a:r>
              <a:rPr lang="en-US" sz="900" b="0" strike="noStrike" spc="-1" dirty="0"/>
              <a:t>variant / Effective Panel </a:t>
            </a:r>
            <a:r>
              <a:rPr lang="en-US" sz="900" spc="-1" dirty="0"/>
              <a:t>Size </a:t>
            </a:r>
            <a:r>
              <a:rPr lang="en-US" sz="900" spc="-1" dirty="0" smtClean="0"/>
              <a:t>in Millions of bases: </a:t>
            </a:r>
            <a:endParaRPr lang="en-US" sz="9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900" spc="-1" dirty="0" smtClean="0"/>
              <a:t>Report </a:t>
            </a:r>
            <a:r>
              <a:rPr lang="en-US" sz="900" spc="-1" dirty="0"/>
              <a:t>from the </a:t>
            </a:r>
            <a:r>
              <a:rPr lang="en-US" sz="900" spc="-1" dirty="0" err="1" smtClean="0"/>
              <a:t>LocalApp</a:t>
            </a:r>
            <a:r>
              <a:rPr lang="en-US" sz="900" spc="-1" dirty="0" smtClean="0"/>
              <a:t> from Illumina: TMB including synonymous </a:t>
            </a:r>
            <a:r>
              <a:rPr lang="en-US" sz="900" spc="-1" dirty="0"/>
              <a:t>(eligible variants</a:t>
            </a:r>
            <a:r>
              <a:rPr lang="en-US" sz="900" spc="-1" dirty="0" smtClean="0"/>
              <a:t>)</a:t>
            </a:r>
            <a:r>
              <a:rPr lang="nb-NO" altLang="en-US" sz="900" spc="-1" dirty="0" smtClean="0"/>
              <a:t>:</a:t>
            </a:r>
            <a:r>
              <a:rPr lang="en-US" sz="900" spc="-1" dirty="0" smtClean="0"/>
              <a:t> </a:t>
            </a:r>
            <a:endParaRPr lang="en-US" sz="900" spc="-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26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5" name="Gruppe 64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6" name="Bilde 6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7" name="TekstSylinder 66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TekstSylinder 92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4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52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3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3" name="TextBox 132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28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DDX41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M1?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start_lost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R273H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R158P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SMARCA4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T910M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ZNF703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H402fs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AMER1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S868I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LRP1B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V1361L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F172L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D411_L414del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R1671Q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G582E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R678K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C3743Y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21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19</a:t>
            </a:r>
          </a:p>
        </p:txBody>
      </p:sp>
      <p:sp>
        <p:nvSpPr>
          <p:cNvPr id="153" name="Oval 152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1956816"/>
            <a:ext cx="539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/>
            </a:pPr>
            <a:r>
              <a:t>19/1.27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87568" y="2093976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/>
            </a:pPr>
            <a:r>
              <a:t>TMB = 14.9 (19)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707376"/>
                <a:gridCol w="851320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79" y="1462405"/>
          <a:ext cx="4845201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9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63"/>
          <p:cNvSpPr/>
          <p:nvPr/>
        </p:nvSpPr>
        <p:spPr>
          <a:xfrm>
            <a:off x="1677954" y="1851670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</a:t>
            </a:r>
            <a:endParaRPr lang="en-US" sz="1100" b="1" dirty="0"/>
          </a:p>
        </p:txBody>
      </p:sp>
      <p:graphicFrame>
        <p:nvGraphicFramePr>
          <p:cNvPr id="108" name="Table 124"/>
          <p:cNvGraphicFramePr>
            <a:graphicFrameLocks noGrp="1"/>
          </p:cNvGraphicFramePr>
          <p:nvPr/>
        </p:nvGraphicFramePr>
        <p:xfrm>
          <a:off x="1685240" y="2139702"/>
          <a:ext cx="4964553" cy="892409"/>
        </p:xfrm>
        <a:graphic>
          <a:graphicData uri="http://schemas.openxmlformats.org/drawingml/2006/table">
            <a:tbl>
              <a:tblPr/>
              <a:tblGrid>
                <a:gridCol w="449508"/>
                <a:gridCol w="541524"/>
                <a:gridCol w="93980"/>
                <a:gridCol w="486049"/>
                <a:gridCol w="432858"/>
                <a:gridCol w="449508"/>
                <a:gridCol w="587816"/>
                <a:gridCol w="539011"/>
                <a:gridCol w="518661"/>
                <a:gridCol w="465641"/>
                <a:gridCol w="399997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hMerge="1"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Table 114"/>
          <p:cNvGraphicFramePr>
            <a:graphicFrameLocks noGrp="1"/>
          </p:cNvGraphicFramePr>
          <p:nvPr/>
        </p:nvGraphicFramePr>
        <p:xfrm>
          <a:off x="1727900" y="3521053"/>
          <a:ext cx="4802541" cy="384985"/>
        </p:xfrm>
        <a:graphic>
          <a:graphicData uri="http://schemas.openxmlformats.org/drawingml/2006/table">
            <a:tbl>
              <a:tblPr/>
              <a:tblGrid>
                <a:gridCol w="452493"/>
                <a:gridCol w="556076"/>
                <a:gridCol w="626778"/>
                <a:gridCol w="3167194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Rectangle 113"/>
          <p:cNvSpPr/>
          <p:nvPr/>
        </p:nvSpPr>
        <p:spPr>
          <a:xfrm>
            <a:off x="1685239" y="3335322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potential relevance</a:t>
            </a:r>
            <a:endParaRPr lang="en-US" sz="900" b="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3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7" name="Gruppe 6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9" name="TekstSylinder 68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0" name="Bilde 6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73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sp>
        <p:nvSpPr>
          <p:cNvPr id="94" name="TekstSylinder 93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5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4" name="TextBox 133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28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DDX41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M1?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start_lost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R273H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R158P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SMARCA4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T910M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0.63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ZNF703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H402fs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AMER1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S868I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LRP1B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V1361L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0.44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F172L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D411_L414del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0.07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R1671Q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G582E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7097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R678K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709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C3743Y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21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19</a:t>
            </a:r>
          </a:p>
        </p:txBody>
      </p:sp>
      <p:sp>
        <p:nvSpPr>
          <p:cNvPr id="154" name="Oval 153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3"/>
          <p:cNvSpPr/>
          <p:nvPr/>
        </p:nvSpPr>
        <p:spPr>
          <a:xfrm>
            <a:off x="1677954" y="1050447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 and variant/gene-drug association</a:t>
            </a:r>
            <a:endParaRPr lang="en-US" sz="1100" b="1" dirty="0"/>
          </a:p>
        </p:txBody>
      </p:sp>
      <p:graphicFrame>
        <p:nvGraphicFramePr>
          <p:cNvPr id="44" name="Table 74"/>
          <p:cNvGraphicFramePr>
            <a:graphicFrameLocks noGrp="1"/>
          </p:cNvGraphicFramePr>
          <p:nvPr/>
        </p:nvGraphicFramePr>
        <p:xfrm>
          <a:off x="1687796" y="1295415"/>
          <a:ext cx="2625876" cy="2937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45756"/>
                <a:gridCol w="1080120"/>
              </a:tblGrid>
              <a:tr h="2937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800" b="1" dirty="0" smtClean="0"/>
                        <a:t>Biomarkers potentially</a:t>
                      </a:r>
                      <a:r>
                        <a:rPr lang="nb-NO" sz="800" b="1" baseline="0" dirty="0" smtClean="0"/>
                        <a:t> relevant for immune therapy</a:t>
                      </a:r>
                      <a:endParaRPr lang="en-US" sz="8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dirty="0" smtClean="0">
                          <a:latin typeface="+mn-lt"/>
                          <a:ea typeface="Times New Roman" panose="02020503050405090304"/>
                        </a:rPr>
                        <a:t>None reported</a:t>
                      </a:r>
                      <a:endParaRPr lang="en-US" sz="800" dirty="0" smtClean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1" y="1655027"/>
          <a:ext cx="4876216" cy="916723"/>
        </p:xfrm>
        <a:graphic>
          <a:graphicData uri="http://schemas.openxmlformats.org/drawingml/2006/table">
            <a:tbl>
              <a:tblPr/>
              <a:tblGrid>
                <a:gridCol w="451785"/>
                <a:gridCol w="486537"/>
                <a:gridCol w="527212"/>
                <a:gridCol w="435051"/>
                <a:gridCol w="451785"/>
                <a:gridCol w="590794"/>
                <a:gridCol w="541741"/>
                <a:gridCol w="521288"/>
                <a:gridCol w="468000"/>
                <a:gridCol w="402023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12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Rectangle 39"/>
          <p:cNvSpPr/>
          <p:nvPr/>
        </p:nvSpPr>
        <p:spPr>
          <a:xfrm>
            <a:off x="8233900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241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2" name="Rectangle 113"/>
          <p:cNvSpPr/>
          <p:nvPr/>
        </p:nvSpPr>
        <p:spPr>
          <a:xfrm>
            <a:off x="1706184" y="3331375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Copy number variant </a:t>
            </a:r>
            <a:endParaRPr lang="en-US" sz="900" b="1" dirty="0"/>
          </a:p>
        </p:txBody>
      </p:sp>
      <p:sp>
        <p:nvSpPr>
          <p:cNvPr id="69" name="TekstSylinder 68"/>
          <p:cNvSpPr txBox="1"/>
          <p:nvPr/>
        </p:nvSpPr>
        <p:spPr>
          <a:xfrm>
            <a:off x="6878980" y="2382866"/>
            <a:ext cx="196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/>
              <a:t>According to ESMO guidelines, recommendation for genetic counseling does not apply for the variants reported</a:t>
            </a:r>
            <a:endParaRPr lang="en-US" sz="800" i="1" dirty="0"/>
          </a:p>
        </p:txBody>
      </p:sp>
      <p:sp>
        <p:nvSpPr>
          <p:cNvPr id="18" name="Rectangle 70"/>
          <p:cNvSpPr/>
          <p:nvPr/>
        </p:nvSpPr>
        <p:spPr>
          <a:xfrm>
            <a:off x="8077940" y="3941673"/>
            <a:ext cx="9220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Mutation hotspot</a:t>
            </a:r>
            <a:endParaRPr lang="en-US" sz="800" dirty="0"/>
          </a:p>
        </p:txBody>
      </p:sp>
      <p:sp>
        <p:nvSpPr>
          <p:cNvPr id="19" name="Rounded Rectangle 67"/>
          <p:cNvSpPr/>
          <p:nvPr/>
        </p:nvSpPr>
        <p:spPr>
          <a:xfrm>
            <a:off x="7717940" y="3990146"/>
            <a:ext cx="360000" cy="1184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ktangel 19"/>
          <p:cNvSpPr/>
          <p:nvPr/>
        </p:nvSpPr>
        <p:spPr>
          <a:xfrm>
            <a:off x="7614444" y="4119498"/>
            <a:ext cx="700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/>
              <a:t>*</a:t>
            </a:r>
            <a:r>
              <a:rPr lang="en-US" sz="800" dirty="0" err="1" smtClean="0"/>
              <a:t>OncoKB</a:t>
            </a:r>
            <a:endParaRPr lang="en-US" sz="800" dirty="0" smtClean="0"/>
          </a:p>
          <a:p>
            <a:r>
              <a:rPr lang="en-US" sz="800" dirty="0" smtClean="0"/>
              <a:t>**PMID:XX</a:t>
            </a:r>
            <a:endParaRPr lang="en-US" sz="800" dirty="0" smtClean="0"/>
          </a:p>
          <a:p>
            <a:r>
              <a:rPr lang="en-US" sz="800" dirty="0" smtClean="0"/>
              <a:t>***PMID:XX</a:t>
            </a:r>
            <a:endParaRPr lang="nb-NO" dirty="0"/>
          </a:p>
        </p:txBody>
      </p:sp>
      <p:sp>
        <p:nvSpPr>
          <p:cNvPr id="23" name="Tittel 1"/>
          <p:cNvSpPr txBox="1"/>
          <p:nvPr/>
        </p:nvSpPr>
        <p:spPr>
          <a:xfrm>
            <a:off x="66387" y="147982"/>
            <a:ext cx="1449000" cy="235176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Standard templates for text and tables in the report:</a:t>
            </a:r>
            <a:endParaRPr lang="en-US" sz="1500" b="1" dirty="0"/>
          </a:p>
        </p:txBody>
      </p:sp>
      <p:sp>
        <p:nvSpPr>
          <p:cNvPr id="28" name="Rectangle 113"/>
          <p:cNvSpPr/>
          <p:nvPr/>
        </p:nvSpPr>
        <p:spPr>
          <a:xfrm>
            <a:off x="1702168" y="3497139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unknown significance in treatment relevant genes</a:t>
            </a:r>
            <a:endParaRPr lang="en-US" sz="900" b="1" dirty="0"/>
          </a:p>
        </p:txBody>
      </p:sp>
      <p:graphicFrame>
        <p:nvGraphicFramePr>
          <p:cNvPr id="29" name="Table 114"/>
          <p:cNvGraphicFramePr>
            <a:graphicFrameLocks noGrp="1"/>
          </p:cNvGraphicFramePr>
          <p:nvPr/>
        </p:nvGraphicFramePr>
        <p:xfrm>
          <a:off x="1795169" y="2801548"/>
          <a:ext cx="4771282" cy="428864"/>
        </p:xfrm>
        <a:graphic>
          <a:graphicData uri="http://schemas.openxmlformats.org/drawingml/2006/table">
            <a:tbl>
              <a:tblPr/>
              <a:tblGrid>
                <a:gridCol w="449547"/>
                <a:gridCol w="552457"/>
                <a:gridCol w="622699"/>
                <a:gridCol w="3146579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Unknown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Rectangle 113"/>
          <p:cNvSpPr/>
          <p:nvPr/>
        </p:nvSpPr>
        <p:spPr>
          <a:xfrm>
            <a:off x="1752509" y="2615817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</a:t>
            </a:r>
            <a:r>
              <a:rPr lang="en-US" sz="900" b="1" dirty="0"/>
              <a:t>potential biological and diagnostic </a:t>
            </a:r>
            <a:r>
              <a:rPr lang="en-US" sz="900" b="1" dirty="0" smtClean="0"/>
              <a:t>relevance</a:t>
            </a:r>
            <a:endParaRPr lang="en-US" sz="900" b="1" dirty="0"/>
          </a:p>
        </p:txBody>
      </p:sp>
      <p:graphicFrame>
        <p:nvGraphicFramePr>
          <p:cNvPr id="31" name="Tabell 30"/>
          <p:cNvGraphicFramePr>
            <a:graphicFrameLocks noGrp="1"/>
          </p:cNvGraphicFramePr>
          <p:nvPr/>
        </p:nvGraphicFramePr>
        <p:xfrm>
          <a:off x="5407643" y="808516"/>
          <a:ext cx="3645133" cy="596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652"/>
                <a:gridCol w="818643"/>
                <a:gridCol w="716312"/>
                <a:gridCol w="613982"/>
                <a:gridCol w="74154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Gene1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Gene2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PairedAlt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SplitAlt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smtClean="0">
                          <a:effectLst/>
                        </a:rPr>
                        <a:t>Support</a:t>
                      </a:r>
                      <a:r>
                        <a:rPr lang="nb-NO" sz="700" kern="1200" baseline="0" dirty="0" smtClean="0">
                          <a:effectLst/>
                        </a:rPr>
                        <a:t> %</a:t>
                      </a:r>
                      <a:r>
                        <a:rPr lang="nb-NO" sz="700" kern="1200" dirty="0" smtClean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nb-NO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kern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x%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Rectangle 70"/>
          <p:cNvSpPr/>
          <p:nvPr/>
        </p:nvSpPr>
        <p:spPr>
          <a:xfrm>
            <a:off x="8160900" y="587645"/>
            <a:ext cx="9252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Reported fusions:</a:t>
            </a:r>
            <a:endParaRPr lang="en-US" sz="800" dirty="0"/>
          </a:p>
        </p:txBody>
      </p:sp>
      <p:sp>
        <p:nvSpPr>
          <p:cNvPr id="36" name="TekstSylinder 35"/>
          <p:cNvSpPr txBox="1"/>
          <p:nvPr/>
        </p:nvSpPr>
        <p:spPr>
          <a:xfrm>
            <a:off x="6881450" y="1878925"/>
            <a:ext cx="19669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rgbClr val="00B0F0"/>
                </a:solidFill>
              </a:rPr>
              <a:t>¤</a:t>
            </a:r>
            <a:r>
              <a:rPr lang="en-US" sz="800" i="1" dirty="0"/>
              <a:t> : According to ESMO guidelines, genetic </a:t>
            </a:r>
            <a:r>
              <a:rPr lang="nb-NO" altLang="en-US" sz="800" i="1" dirty="0"/>
              <a:t>testing </a:t>
            </a:r>
            <a:r>
              <a:rPr lang="en-US" sz="800" i="1" dirty="0"/>
              <a:t>is recommended for the reported XX variant.</a:t>
            </a:r>
            <a:endParaRPr lang="en-US" sz="800" i="1" dirty="0"/>
          </a:p>
        </p:txBody>
      </p:sp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uppe 44"/>
          <p:cNvGrpSpPr/>
          <p:nvPr/>
        </p:nvGrpSpPr>
        <p:grpSpPr>
          <a:xfrm>
            <a:off x="90245" y="1166143"/>
            <a:ext cx="1538182" cy="829543"/>
            <a:chOff x="130104" y="3181320"/>
            <a:chExt cx="1539251" cy="829543"/>
          </a:xfrm>
        </p:grpSpPr>
        <p:sp>
          <p:nvSpPr>
            <p:cNvPr id="3" name="Rectangle 51"/>
            <p:cNvSpPr/>
            <p:nvPr/>
          </p:nvSpPr>
          <p:spPr>
            <a:xfrm>
              <a:off x="181748" y="3197122"/>
              <a:ext cx="1368951" cy="647280"/>
            </a:xfrm>
            <a:prstGeom prst="rect">
              <a:avLst/>
            </a:prstGeom>
            <a:solidFill>
              <a:schemeClr val="bg1"/>
            </a:solidFill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Rectangle 67"/>
            <p:cNvSpPr/>
            <p:nvPr/>
          </p:nvSpPr>
          <p:spPr>
            <a:xfrm>
              <a:off x="183687" y="3196887"/>
              <a:ext cx="395640" cy="64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TextBox 52"/>
            <p:cNvSpPr/>
            <p:nvPr/>
          </p:nvSpPr>
          <p:spPr>
            <a:xfrm>
              <a:off x="130104" y="3232588"/>
              <a:ext cx="659880" cy="57562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50" spc="-1" dirty="0">
                  <a:solidFill>
                    <a:schemeClr val="bg1"/>
                  </a:solidFill>
                </a:rPr>
                <a:t>F1 Liquid CD</a:t>
              </a:r>
              <a:r>
                <a:rPr lang="en-US" sz="1050" b="1" spc="-1" dirty="0">
                  <a:solidFill>
                    <a:schemeClr val="bg1"/>
                  </a:solidFill>
                </a:rPr>
                <a:t>x </a:t>
              </a:r>
              <a:endParaRPr lang="en-US" sz="1050" spc="-1" dirty="0">
                <a:solidFill>
                  <a:schemeClr val="bg1"/>
                </a:solidFill>
                <a:latin typeface="Arial" panose="020B0604020202090204"/>
              </a:endParaRPr>
            </a:p>
          </p:txBody>
        </p:sp>
        <p:sp>
          <p:nvSpPr>
            <p:cNvPr id="6" name="TextBox 55"/>
            <p:cNvSpPr/>
            <p:nvPr/>
          </p:nvSpPr>
          <p:spPr>
            <a:xfrm>
              <a:off x="490604" y="3181320"/>
              <a:ext cx="1178751" cy="8295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strike="noStrike" spc="-1" dirty="0" smtClean="0">
                  <a:solidFill>
                    <a:srgbClr val="000000"/>
                  </a:solidFill>
                  <a:latin typeface="Calibri"/>
                </a:rPr>
                <a:t> Gene Alterations</a:t>
              </a:r>
              <a:endParaRPr lang="en-US" sz="1000" b="0" strike="noStrike" spc="-1" dirty="0" smtClean="0">
                <a:solidFill>
                  <a:srgbClr val="000000"/>
                </a:solidFill>
                <a:latin typeface="Calibri"/>
              </a:endParaRPr>
            </a:p>
            <a:p>
              <a:r>
                <a:rPr lang="en-US" sz="700" spc="-1" dirty="0" smtClean="0">
                  <a:solidFill>
                    <a:srgbClr val="000000"/>
                  </a:solidFill>
                </a:rPr>
                <a:t> Any overlap TSO500:  </a:t>
              </a:r>
              <a:endParaRPr lang="en-US" sz="700" spc="-1" dirty="0" smtClean="0">
                <a:solidFill>
                  <a:srgbClr val="000000"/>
                </a:solidFill>
              </a:endParaRPr>
            </a:p>
            <a:p>
              <a:r>
                <a:rPr lang="en-US" sz="700" spc="-1" dirty="0" smtClean="0"/>
                <a:t> Add. biomarkers: </a:t>
              </a:r>
              <a:endParaRPr lang="en-US" sz="700" spc="-1" dirty="0" smtClean="0"/>
            </a:p>
            <a:p>
              <a:r>
                <a:rPr lang="en-US" sz="600" i="1" spc="-1" dirty="0" smtClean="0"/>
                <a:t>  </a:t>
              </a:r>
              <a:endParaRPr lang="en-US" sz="600" i="1" spc="-1" dirty="0"/>
            </a:p>
            <a:p>
              <a:endParaRPr lang="en-US" sz="800" spc="-1" dirty="0">
                <a:latin typeface="Arial" panose="020B0604020202090204"/>
              </a:endParaRPr>
            </a:p>
            <a:p>
              <a:pPr>
                <a:lnSpc>
                  <a:spcPct val="100000"/>
                </a:lnSpc>
              </a:pPr>
              <a:endParaRPr lang="en-US" sz="1000" b="0" strike="noStrike" spc="-1" dirty="0">
                <a:latin typeface="Arial" panose="020B0604020202090204"/>
              </a:endParaRPr>
            </a:p>
          </p:txBody>
        </p:sp>
      </p:grpSp>
      <p:grpSp>
        <p:nvGrpSpPr>
          <p:cNvPr id="39" name="Gruppe 38"/>
          <p:cNvGrpSpPr/>
          <p:nvPr/>
        </p:nvGrpSpPr>
        <p:grpSpPr>
          <a:xfrm>
            <a:off x="65057" y="2231888"/>
            <a:ext cx="1687452" cy="715457"/>
            <a:chOff x="140644" y="3135196"/>
            <a:chExt cx="1688625" cy="715457"/>
          </a:xfrm>
        </p:grpSpPr>
        <p:sp>
          <p:nvSpPr>
            <p:cNvPr id="40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4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42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0" name="TextBox 55"/>
            <p:cNvSpPr/>
            <p:nvPr/>
          </p:nvSpPr>
          <p:spPr>
            <a:xfrm>
              <a:off x="650518" y="3267332"/>
              <a:ext cx="1178751" cy="58332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Tumor DNA not represented  </a:t>
              </a:r>
              <a:endParaRPr kumimoji="0" lang="en-US" sz="8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2" name="Gruppe 51"/>
          <p:cNvGrpSpPr/>
          <p:nvPr/>
        </p:nvGrpSpPr>
        <p:grpSpPr>
          <a:xfrm>
            <a:off x="65057" y="3285814"/>
            <a:ext cx="1641127" cy="942120"/>
            <a:chOff x="140644" y="3135196"/>
            <a:chExt cx="1642268" cy="942120"/>
          </a:xfrm>
        </p:grpSpPr>
        <p:sp>
          <p:nvSpPr>
            <p:cNvPr id="53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54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55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6" name="TextBox 55"/>
            <p:cNvSpPr/>
            <p:nvPr/>
          </p:nvSpPr>
          <p:spPr>
            <a:xfrm>
              <a:off x="604161" y="3140052"/>
              <a:ext cx="1178751" cy="937264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NO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7" name="Gruppe 56"/>
          <p:cNvGrpSpPr/>
          <p:nvPr/>
        </p:nvGrpSpPr>
        <p:grpSpPr>
          <a:xfrm>
            <a:off x="72510" y="4402228"/>
            <a:ext cx="1641127" cy="1049842"/>
            <a:chOff x="140644" y="3135196"/>
            <a:chExt cx="1642268" cy="1049842"/>
          </a:xfrm>
        </p:grpSpPr>
        <p:sp>
          <p:nvSpPr>
            <p:cNvPr id="58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6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64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66" name="TextBox 55"/>
            <p:cNvSpPr/>
            <p:nvPr/>
          </p:nvSpPr>
          <p:spPr>
            <a:xfrm>
              <a:off x="604161" y="3140052"/>
              <a:ext cx="1178751" cy="1044986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</a:t>
              </a: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YES</a:t>
              </a:r>
              <a:endParaRPr lang="en-US" sz="700" kern="0" spc="-1" dirty="0" smtClean="0">
                <a:solidFill>
                  <a:prstClr val="black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(See comments)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45" name="TekstSylinder 44"/>
          <p:cNvSpPr txBox="1"/>
          <p:nvPr/>
        </p:nvSpPr>
        <p:spPr>
          <a:xfrm>
            <a:off x="6878980" y="3081351"/>
            <a:ext cx="2373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 Variant of unknown significance (VUS)</a:t>
            </a:r>
            <a:endParaRPr lang="en-US" sz="800" dirty="0"/>
          </a:p>
          <a:p>
            <a:r>
              <a:rPr lang="en-US" sz="800" dirty="0">
                <a:solidFill>
                  <a:schemeClr val="tx1"/>
                </a:solidFill>
              </a:rPr>
              <a:t>&amp; Variants previously reported (in Myeloid panels)</a:t>
            </a:r>
            <a:endParaRPr 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46" name="Table 124"/>
          <p:cNvGraphicFramePr>
            <a:graphicFrameLocks noGrp="1"/>
          </p:cNvGraphicFramePr>
          <p:nvPr/>
        </p:nvGraphicFramePr>
        <p:xfrm>
          <a:off x="1728232" y="3997902"/>
          <a:ext cx="4932000" cy="1094128"/>
        </p:xfrm>
        <a:graphic>
          <a:graphicData uri="http://schemas.openxmlformats.org/drawingml/2006/table">
            <a:tbl>
              <a:tblPr/>
              <a:tblGrid>
                <a:gridCol w="576000"/>
                <a:gridCol w="504000"/>
                <a:gridCol w="432000"/>
                <a:gridCol w="360000"/>
                <a:gridCol w="540000"/>
                <a:gridCol w="2520000"/>
              </a:tblGrid>
              <a:tr h="216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63"/>
          <p:cNvSpPr/>
          <p:nvPr/>
        </p:nvSpPr>
        <p:spPr>
          <a:xfrm>
            <a:off x="1677954" y="3741357"/>
            <a:ext cx="43974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Variants of </a:t>
            </a:r>
            <a:r>
              <a:rPr lang="en-US" sz="1100" b="1" dirty="0" smtClean="0"/>
              <a:t>potential relevance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502920"/>
          <a:ext cx="8906255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877824"/>
                <a:gridCol w="877824"/>
                <a:gridCol w="466344"/>
                <a:gridCol w="667512"/>
                <a:gridCol w="1024128"/>
                <a:gridCol w="2066543"/>
                <a:gridCol w="722376"/>
                <a:gridCol w="740664"/>
                <a:gridCol w="484632"/>
                <a:gridCol w="484632"/>
              </a:tblGrid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Genomic_coordinates_in_hg19_build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Ensembl_transcript_ID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HGVS_syntax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Change_summary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Read_depth(variant reads/total 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Filter_rescued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DDX41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chr5:g.176943944C&gt;T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ENST00000507955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M1?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:c.3G&gt;A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DDX41 :c.3G&gt;A,p.(M1?),p.(Met1?)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start_lost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357/744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chr17:g.7577120C&gt;T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ENST00000269305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R273H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NM_000546:c.818G&gt;A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 NM_000546:c.818G&gt;A,p.(R273H),p.(Arg273His)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86/219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chr17:g.7577547C&gt;T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ENST00000269305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NM_000546:c.734G&gt;A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 NM_000546:c.734G&gt;A,p.(G245D),p.(Gly245Asp)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149/756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chr13:g.48953730C&gt;T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ENST00000267163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NM_000321:c.1333C&gt;T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 NM_000321:c.1333C&gt;T,p.(R445X),p.(Arg445Ter)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66/370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chr10:g.89720798GTACT&gt;G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ENST00000371953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NM_000314:c.955_958del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 NM_000314:c.955_958del,p.(T319X),p.(Thr319Ter)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29/490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chr2:g.47702189CAAT&gt;C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ENST00000233146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NM_000251:c.1786_1788del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 NM_000251:c.1786_1788del,p.(N596del),p.(Asn596del)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377/670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chr22:g.21348266G&gt;A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ENST00000215739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:c.1407G&gt;A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 :c.1407G&gt;A,p.(W469X),p.(Trp469Ter)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281/463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chr12:g.121432116G&gt;GC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ENST00000257555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NM_000545:c.863_864insC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 NM_000545:c.863_864insC,p.(P289fs),p.(Pro289AlafsTer28)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30/594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chr17:g.7578457C&gt;G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ENST00000269305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R158P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NM_000546:c.473G&gt;C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 NM_000546:c.473G&gt;C,p.(R158P),p.(Arg158Pro)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365/557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SMARCA4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chr19:g.11132513C&gt;T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ENST00000429416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T910M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NM_001128844:c.2729C&gt;T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SMARCA4 NM_001128844:c.2729C&gt;T,p.(T910M),p.(Thr910Met)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384/607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ZNF703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chr8:g.37555623CA&gt;C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ENST00000331569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H402fs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NM_025069:c.1205del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ZNF703 NM_025069:c.1205del,p.(H402fs),p.(His402ProfsTer8)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9/95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AMER1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chrX:g.63410564C&gt;A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ENST00000330258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S868I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:c.2603G&gt;T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AMER1 :c.2603G&gt;T,p.(S868I),p.(Ser868Ile)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179/298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LRP1B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chr2:g.141641474C&gt;A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ENST00000389484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V1361L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NM_018557:c.4081G&gt;T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LRP1B NM_018557:c.4081G&gt;T,p.(V1361L),p.(Val1361Leu)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361/817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30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chr17:g.40490785A&gt;G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ENST00000264657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F172L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NM_001384992|NM_001369512|NM_001369513|NM_001384985|NM_139276:c.514T&gt;C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STAT3 NM_001384992|NM_001369512|NM_001369513|NM_001384985|NM_139276:c.514T&gt;C,p.(F172L),p.(Phe172Leu)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101/345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246888"/>
            <a:ext cx="8211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Sequence data summary for IPD2225-D01-P01-A08: Variants that alter protein code and splice sites.  TSOPPI Version string: Version string: 2.2.0.12/0.3.2:22-06-07/1.0.0/1.0.0/hg19/TR  (N=20, Page 1/2)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502920"/>
          <a:ext cx="8906255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877824"/>
                <a:gridCol w="877824"/>
                <a:gridCol w="466344"/>
                <a:gridCol w="667512"/>
                <a:gridCol w="1024128"/>
                <a:gridCol w="2066543"/>
                <a:gridCol w="722376"/>
                <a:gridCol w="740664"/>
                <a:gridCol w="484632"/>
                <a:gridCol w="484632"/>
              </a:tblGrid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Genomic_coordinates_in_hg19_build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Ensembl_transcript_ID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HGVS_syntax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Change_summary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Read_depth(variant reads/total 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Filter_rescued</a:t>
                      </a:r>
                    </a:p>
                  </a:txBody>
                  <a:tcPr/>
                </a:tc>
              </a:tr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chr12:g.46231389CTGATGTGCTGCT&gt;C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ENST00000334344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D411_L414del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NM_152641:c.1232_1243del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ARID2 NM_152641:c.1232_1243del,p.(D411_L414del),p.(Asp411_Leu414del)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39/537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chr1:g.27102086G&gt;A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ENST00000324856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R1671Q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NM_006015:c.5012G&gt;A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ARID1A NM_006015:c.5012G&gt;A,p.(R1671Q),p.(Arg1671Gln)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63/575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chr17:g.63534410C&gt;G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ENST00000307078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A371P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NM_004655:c.1111G&gt;C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AXIN2 NM_004655:c.1111G&gt;C,p.(A371P),p.(Ala371Pro)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11/530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chr12:g.56488226G&gt;A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ENST00000267101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G582E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NM_001982:c.1745G&gt;A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 NM_001982:c.1745G&gt;A,p.(G582E),p.(Gly582Glu)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57/607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6706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chr12:g.56489568G&gt;A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ENST00000267101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R678K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NM_001982:c.2033G&gt;A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ERBB3 NM_001982:c.2033G&gt;A,p.(R678K),p.(Arg678Lys)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34/353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670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chr4:g.187524452C&gt;T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ENST00000441802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C3743Y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NM_005245:c.11228G&gt;A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 NM_005245:c.11228G&gt;A,p.(C3743Y),p.(Cys3743Tyr)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120/928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246888"/>
            <a:ext cx="8211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Sequence data summary for IPD2225-D01-P01-A08: Variants that alter protein code and splice sites.  TSOPPI Version string: Version string: 2.2.0.12/0.3.2:22-06-07/1.0.0/1.0.0/hg19/TR  (N=20, Page 2/2)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875"/>
            <a:ext cx="9144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pic>
        <p:nvPicPr>
          <p:cNvPr id="3" name="Picture 2" descr="temp_page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7595d694-63b2-45bc-b32c-f75ad713031d}"/>
</p:tagLst>
</file>

<file path=ppt/tags/tag2.xml><?xml version="1.0" encoding="utf-8"?>
<p:tagLst xmlns:p="http://schemas.openxmlformats.org/presentationml/2006/main">
  <p:tag name="KSO_WM_UNIT_TABLE_BEAUTIFY" val="smartTable{9898d346-fadb-4fdf-b6fd-32c4869c2389}"/>
</p:tagLst>
</file>

<file path=ppt/tags/tag3.xml><?xml version="1.0" encoding="utf-8"?>
<p:tagLst xmlns:p="http://schemas.openxmlformats.org/presentationml/2006/main">
  <p:tag name="KSO_WM_UNIT_TABLE_BEAUTIFY" val="smartTable{7595d694-63b2-45bc-b32c-f75ad713031d}"/>
</p:tagLst>
</file>

<file path=ppt/tags/tag4.xml><?xml version="1.0" encoding="utf-8"?>
<p:tagLst xmlns:p="http://schemas.openxmlformats.org/presentationml/2006/main">
  <p:tag name="KSO_WM_UNIT_TABLE_BEAUTIFY" val="smartTable{9898d346-fadb-4fdf-b6fd-32c4869c2389}"/>
</p:tagLst>
</file>

<file path=ppt/tags/tag5.xml><?xml version="1.0" encoding="utf-8"?>
<p:tagLst xmlns:p="http://schemas.openxmlformats.org/presentationml/2006/main">
  <p:tag name="KSO_WM_UNIT_TABLE_BEAUTIFY" val="smartTable{7595d694-63b2-45bc-b32c-f75ad713031d}"/>
</p:tagLst>
</file>

<file path=ppt/tags/tag6.xml><?xml version="1.0" encoding="utf-8"?>
<p:tagLst xmlns:p="http://schemas.openxmlformats.org/presentationml/2006/main">
  <p:tag name="KSO_WM_UNIT_TABLE_BEAUTIFY" val="smartTable{9898d346-fadb-4fdf-b6fd-32c4869c2389}"/>
</p:tagLst>
</file>

<file path=ppt/tags/tag7.xml><?xml version="1.0" encoding="utf-8"?>
<p:tagLst xmlns:p="http://schemas.openxmlformats.org/presentationml/2006/main">
  <p:tag name="KSO_WM_UNIT_TABLE_BEAUTIFY" val="smartTable{a8cadbdc-018b-4b22-80bd-a2e7577c17d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5983</Words>
  <Application>WPS Presentation</Application>
  <PresentationFormat>Skjermfremvisning (16:9)</PresentationFormat>
  <Paragraphs>606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Helvetica Neue</vt:lpstr>
      <vt:lpstr>Arial</vt:lpstr>
      <vt:lpstr>Calibri Light</vt:lpstr>
      <vt:lpstr>Calibri</vt:lpstr>
      <vt:lpstr>Times New Roman</vt:lpstr>
      <vt:lpstr>Microsoft YaHei</vt:lpstr>
      <vt:lpstr>汉仪旗黑</vt:lpstr>
      <vt:lpstr>Arial Unicode MS</vt:lpstr>
      <vt:lpstr>汉仪书宋二KW</vt:lpstr>
      <vt:lpstr>Office Theme</vt:lpstr>
      <vt:lpstr>The following slide will be distributed for preparation before  the pre-Mol-MDT meeting</vt:lpstr>
      <vt:lpstr>PowerPoint 演示文稿</vt:lpstr>
      <vt:lpstr>The following slides are for  the molecular tumor board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Vigdis Nygaard</dc:creator>
  <cp:lastModifiedBy>xiaolizhang</cp:lastModifiedBy>
  <cp:revision>443</cp:revision>
  <dcterms:created xsi:type="dcterms:W3CDTF">2026-02-27T13:46:10Z</dcterms:created>
  <dcterms:modified xsi:type="dcterms:W3CDTF">2026-02-27T13:46:10Z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8145C7D6AEFA8F0BEB657667E4E052B7_42</vt:lpwstr>
  </property>
</Properties>
</file>