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72" r:id="rId3"/>
    <p:sldId id="269" r:id="rId4"/>
    <p:sldId id="274" r:id="rId6"/>
    <p:sldId id="267" r:id="rId7"/>
    <p:sldId id="268" r:id="rId8"/>
    <p:sldId id="266" r:id="rId9"/>
    <p:sldId id="279" r:id="rId10"/>
    <p:sldId id="280" r:id="rId1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3" userDrawn="1">
          <p15:clr>
            <a:srgbClr val="A4A3A4"/>
          </p15:clr>
        </p15:guide>
        <p15:guide id="2" pos="28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F1"/>
    <a:srgbClr val="FFFFCC"/>
    <a:srgbClr val="FFFFFF"/>
    <a:srgbClr val="DCF0FA"/>
    <a:srgbClr val="FF9999"/>
    <a:srgbClr val="FFCC99"/>
    <a:srgbClr val="FFCCCC"/>
    <a:srgbClr val="CCECFF"/>
    <a:srgbClr val="CCCCFF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71" autoAdjust="0"/>
    <p:restoredTop sz="94660"/>
  </p:normalViewPr>
  <p:slideViewPr>
    <p:cSldViewPr showGuides="1">
      <p:cViewPr varScale="1">
        <p:scale>
          <a:sx n="127" d="100"/>
          <a:sy n="127" d="100"/>
        </p:scale>
        <p:origin x="966" y="120"/>
      </p:cViewPr>
      <p:guideLst>
        <p:guide orient="horz" pos="1563"/>
        <p:guide pos="287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BBAA81-237B-44BB-AF30-64C19C0C1774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C27242-C1B0-4509-A0B0-367918C063F6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1789707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The following slide will be distributed for preparation before </a:t>
            </a:r>
            <a:br>
              <a:rPr lang="en-US" dirty="0" smtClean="0"/>
            </a:br>
            <a:r>
              <a:rPr lang="en-US" dirty="0" smtClean="0"/>
              <a:t>the pre-</a:t>
            </a:r>
            <a:r>
              <a:rPr lang="en-US" dirty="0" err="1" smtClean="0"/>
              <a:t>Mol</a:t>
            </a:r>
            <a:r>
              <a:rPr lang="en-US" dirty="0"/>
              <a:t>-</a:t>
            </a:r>
            <a:r>
              <a:rPr lang="en-US" dirty="0" smtClean="0"/>
              <a:t>MDT meeting</a:t>
            </a:r>
            <a:endParaRPr lang="en-US" dirty="0"/>
          </a:p>
        </p:txBody>
      </p:sp>
      <p:sp>
        <p:nvSpPr>
          <p:cNvPr id="3" name="Plassholder for innhold 2"/>
          <p:cNvSpPr>
            <a:spLocks noGrp="1"/>
          </p:cNvSpPr>
          <p:nvPr>
            <p:ph idx="1"/>
          </p:nvPr>
        </p:nvSpPr>
        <p:spPr>
          <a:xfrm>
            <a:off x="1547664" y="2499741"/>
            <a:ext cx="6624736" cy="20948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N</a:t>
            </a:r>
            <a:r>
              <a:rPr lang="en-US" sz="2000" dirty="0" smtClean="0"/>
              <a:t>o clinical data such as </a:t>
            </a:r>
            <a:r>
              <a:rPr lang="en-US" sz="2000" dirty="0">
                <a:sym typeface="+mn-ea"/>
              </a:rPr>
              <a:t>sex, age, year of diagnosis, clinical diagnosis or material block number in the following slide</a:t>
            </a:r>
            <a:r>
              <a:rPr lang="en-US" sz="2000" dirty="0" smtClean="0">
                <a:sym typeface="+mn-ea"/>
              </a:rPr>
              <a:t>.</a:t>
            </a:r>
            <a:endParaRPr lang="en-US" sz="2000" dirty="0"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/>
          <p:cNvSpPr/>
          <p:nvPr/>
        </p:nvSpPr>
        <p:spPr>
          <a:xfrm>
            <a:off x="8233900" y="90678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8267241" y="90678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8" name="Rectangle 45"/>
          <p:cNvSpPr/>
          <p:nvPr/>
        </p:nvSpPr>
        <p:spPr>
          <a:xfrm>
            <a:off x="1684706" y="711221"/>
            <a:ext cx="22445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SUMMARY OF KEY FINDINGS </a:t>
            </a:r>
            <a:endParaRPr lang="en-US" sz="1100" b="1" dirty="0"/>
          </a:p>
        </p:txBody>
      </p:sp>
      <p:graphicFrame>
        <p:nvGraphicFramePr>
          <p:cNvPr id="79" name="Table 4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0" y="987573"/>
          <a:ext cx="4851641" cy="32004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371118"/>
                <a:gridCol w="1261802"/>
                <a:gridCol w="324000"/>
                <a:gridCol w="816460"/>
                <a:gridCol w="742236"/>
                <a:gridCol w="519566"/>
                <a:gridCol w="816459"/>
              </a:tblGrid>
              <a:tr h="31203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SNVs/</a:t>
                      </a:r>
                      <a:endParaRPr lang="nb-NO" sz="700" b="1" dirty="0" smtClean="0"/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indels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nr</a:t>
                      </a:r>
                      <a:r>
                        <a:rPr lang="en-US" sz="700" i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of SNVs/indels</a:t>
                      </a:r>
                      <a:endParaRPr lang="en-US" sz="700" i="1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 protein coding sequence</a:t>
                      </a:r>
                      <a:endParaRPr lang="en-US" sz="700" b="1" i="0" baseline="0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1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alter protein coding sequence</a:t>
                      </a:r>
                      <a:endParaRPr lang="en-US" sz="60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1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/>
                        <a:t>Copy number variants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latin typeface="+mn-lt"/>
                          <a:ea typeface="Times New Roman" panose="02020503050405090304"/>
                        </a:rPr>
                        <a:t>Gene</a:t>
                      </a:r>
                      <a:r>
                        <a:rPr lang="en-US" sz="700" b="1" baseline="0" dirty="0" smtClean="0">
                          <a:latin typeface="+mn-lt"/>
                          <a:ea typeface="Times New Roman" panose="02020503050405090304"/>
                        </a:rPr>
                        <a:t> fusions</a:t>
                      </a:r>
                      <a:endParaRPr lang="en-US" sz="700" b="1" baseline="0" dirty="0" smtClean="0">
                        <a:latin typeface="+mn-lt"/>
                        <a:ea typeface="Times New Roman" panose="02020503050405090304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baseline="0" dirty="0" smtClean="0">
                          <a:latin typeface="+mn-lt"/>
                          <a:ea typeface="Times New Roman" panose="02020503050405090304"/>
                        </a:rPr>
                        <a:t> </a:t>
                      </a:r>
                      <a:r>
                        <a:rPr lang="en-US" sz="7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Times New Roman" panose="02020503050405090304"/>
                        </a:rPr>
                        <a:t>RNA</a:t>
                      </a:r>
                      <a:endParaRPr 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Table 49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691680" y="1462405"/>
          <a:ext cx="4845200" cy="3657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563084"/>
                <a:gridCol w="2942958"/>
                <a:gridCol w="520358"/>
                <a:gridCol w="818800"/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1000" b="0" dirty="0" smtClean="0"/>
                        <a:t>TMB</a:t>
                      </a:r>
                      <a:endParaRPr lang="en-US" sz="1000" b="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1000" b="0" dirty="0" smtClean="0">
                        <a:latin typeface="+mn-lt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nb-NO" sz="800" b="0" dirty="0" smtClean="0">
                          <a:latin typeface="+mn-lt"/>
                          <a:ea typeface="+mn-ea"/>
                        </a:rPr>
                        <a:t>status</a:t>
                      </a:r>
                      <a:endParaRPr lang="en-US" sz="800" b="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83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50"/>
          <p:cNvSpPr/>
          <p:nvPr/>
        </p:nvSpPr>
        <p:spPr>
          <a:xfrm>
            <a:off x="2483768" y="1544201"/>
            <a:ext cx="2520280" cy="72008"/>
          </a:xfrm>
          <a:prstGeom prst="rect">
            <a:avLst/>
          </a:prstGeom>
          <a:gradFill flip="none" rotWithShape="1">
            <a:gsLst>
              <a:gs pos="0">
                <a:srgbClr val="0070C0"/>
              </a:gs>
              <a:gs pos="75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0" name="TextBox 54"/>
          <p:cNvSpPr txBox="1"/>
          <p:nvPr/>
        </p:nvSpPr>
        <p:spPr>
          <a:xfrm>
            <a:off x="2457568" y="1573456"/>
            <a:ext cx="34825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Low</a:t>
            </a:r>
            <a:endParaRPr lang="en-US" sz="600" i="1" dirty="0"/>
          </a:p>
        </p:txBody>
      </p:sp>
      <p:sp>
        <p:nvSpPr>
          <p:cNvPr id="91" name="TextBox 55"/>
          <p:cNvSpPr txBox="1"/>
          <p:nvPr/>
        </p:nvSpPr>
        <p:spPr>
          <a:xfrm>
            <a:off x="2755081" y="1575266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Intermediate</a:t>
            </a:r>
            <a:endParaRPr lang="en-US" sz="600" i="1" dirty="0"/>
          </a:p>
        </p:txBody>
      </p:sp>
      <p:sp>
        <p:nvSpPr>
          <p:cNvPr id="92" name="TextBox 56"/>
          <p:cNvSpPr txBox="1"/>
          <p:nvPr/>
        </p:nvSpPr>
        <p:spPr>
          <a:xfrm>
            <a:off x="3491880" y="1573972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High</a:t>
            </a:r>
            <a:endParaRPr lang="en-US" sz="600" i="1" dirty="0"/>
          </a:p>
        </p:txBody>
      </p:sp>
      <p:sp>
        <p:nvSpPr>
          <p:cNvPr id="116" name="TextBox 60"/>
          <p:cNvSpPr txBox="1"/>
          <p:nvPr/>
        </p:nvSpPr>
        <p:spPr>
          <a:xfrm>
            <a:off x="2669510" y="1605037"/>
            <a:ext cx="23384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5</a:t>
            </a:r>
            <a:endParaRPr lang="en-US" sz="600" b="1" i="1" dirty="0"/>
          </a:p>
        </p:txBody>
      </p:sp>
      <p:sp>
        <p:nvSpPr>
          <p:cNvPr id="122" name="TextBox 61"/>
          <p:cNvSpPr txBox="1"/>
          <p:nvPr/>
        </p:nvSpPr>
        <p:spPr>
          <a:xfrm>
            <a:off x="3207296" y="1612835"/>
            <a:ext cx="2845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20</a:t>
            </a:r>
            <a:endParaRPr lang="en-US" sz="600" b="1" i="1" dirty="0"/>
          </a:p>
        </p:txBody>
      </p:sp>
      <p:sp>
        <p:nvSpPr>
          <p:cNvPr id="131" name="Rectangle 80"/>
          <p:cNvSpPr/>
          <p:nvPr/>
        </p:nvSpPr>
        <p:spPr>
          <a:xfrm>
            <a:off x="3975800" y="1623394"/>
            <a:ext cx="118814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i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Potentially overestimated TMB*</a:t>
            </a:r>
            <a:endParaRPr lang="en-US" sz="6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2" name="TextBox 81"/>
          <p:cNvSpPr txBox="1"/>
          <p:nvPr/>
        </p:nvSpPr>
        <p:spPr>
          <a:xfrm>
            <a:off x="3901951" y="1571012"/>
            <a:ext cx="1440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C000"/>
                </a:solidFill>
              </a:rPr>
              <a:t>o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03" name="TextBox 54"/>
          <p:cNvSpPr txBox="1"/>
          <p:nvPr/>
        </p:nvSpPr>
        <p:spPr>
          <a:xfrm>
            <a:off x="2197995" y="1473248"/>
            <a:ext cx="348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 err="1" smtClean="0"/>
              <a:t>Mut</a:t>
            </a:r>
            <a:r>
              <a:rPr lang="en-US" sz="600" dirty="0" smtClean="0"/>
              <a:t>/Mb</a:t>
            </a:r>
            <a:endParaRPr lang="en-US" sz="600" dirty="0"/>
          </a:p>
        </p:txBody>
      </p:sp>
      <p:sp>
        <p:nvSpPr>
          <p:cNvPr id="4" name="Rectangle 39"/>
          <p:cNvSpPr/>
          <p:nvPr/>
        </p:nvSpPr>
        <p:spPr>
          <a:xfrm>
            <a:off x="8233920" y="90720"/>
            <a:ext cx="1223640" cy="486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MTB</a:t>
            </a:r>
            <a:endParaRPr lang="en-US" sz="1600" b="0" strike="noStrike" spc="-1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8" name="Rectangle 63"/>
          <p:cNvSpPr/>
          <p:nvPr/>
        </p:nvSpPr>
        <p:spPr>
          <a:xfrm>
            <a:off x="7295040" y="684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2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95" name="Rectangle 73"/>
          <p:cNvSpPr/>
          <p:nvPr/>
        </p:nvSpPr>
        <p:spPr>
          <a:xfrm>
            <a:off x="1080" y="74880"/>
            <a:ext cx="503640" cy="675654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FFFFFF"/>
                </a:solidFill>
                <a:latin typeface="Calibri"/>
              </a:rPr>
              <a:t>xx</a:t>
            </a: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0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FFFFFF"/>
                </a:solidFill>
                <a:latin typeface="Calibri"/>
              </a:rPr>
              <a:t>XXX</a:t>
            </a:r>
            <a:endParaRPr lang="en-US" sz="12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800" b="0" strike="noStrike" spc="-1" dirty="0" smtClean="0">
                <a:solidFill>
                  <a:srgbClr val="FFFFFF"/>
                </a:solidFill>
                <a:latin typeface="Calibri"/>
              </a:rPr>
              <a:t>2022</a:t>
            </a:r>
            <a:endParaRPr lang="en-US" sz="800" b="0" strike="noStrike" spc="-1" dirty="0">
              <a:latin typeface="Arial" panose="020B0604020202090204"/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2771800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 Box 2"/>
          <p:cNvSpPr/>
          <p:nvPr/>
        </p:nvSpPr>
        <p:spPr>
          <a:xfrm>
            <a:off x="1660319" y="1923678"/>
            <a:ext cx="4883001" cy="316864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800" u="sng" spc="-1" dirty="0" smtClean="0"/>
              <a:t>Description of </a:t>
            </a:r>
            <a:r>
              <a:rPr lang="en-US" sz="800" u="sng" spc="-1" dirty="0" err="1" smtClean="0">
                <a:latin typeface="Calibri"/>
              </a:rPr>
              <a:t>InPreD</a:t>
            </a:r>
            <a:r>
              <a:rPr lang="en-US" sz="800" u="sng" spc="-1" dirty="0" smtClean="0">
                <a:latin typeface="Calibri"/>
              </a:rPr>
              <a:t> calculations: </a:t>
            </a:r>
            <a:endParaRPr lang="en-US" sz="800" u="sng" strike="noStrike" spc="-1" dirty="0" smtClean="0">
              <a:latin typeface="Calibri"/>
            </a:endParaRPr>
          </a:p>
          <a:p>
            <a:r>
              <a:rPr lang="en-US" sz="800" spc="-1" dirty="0"/>
              <a:t>Tumor Mutation </a:t>
            </a:r>
            <a:r>
              <a:rPr lang="en-US" sz="800" spc="-1" dirty="0" smtClean="0"/>
              <a:t>Burden, </a:t>
            </a:r>
            <a:r>
              <a:rPr lang="en-US" sz="800" b="0" strike="noStrike" spc="-1" dirty="0" smtClean="0"/>
              <a:t>TMB (</a:t>
            </a:r>
            <a:r>
              <a:rPr lang="en-US" sz="800" b="0" strike="noStrike" spc="-1" dirty="0"/>
              <a:t>DRUP equivalent): VAF</a:t>
            </a:r>
            <a:r>
              <a:rPr lang="en-US" sz="800" b="0" strike="noStrike" spc="-1" dirty="0" smtClean="0"/>
              <a:t>&gt;=0.05</a:t>
            </a:r>
            <a:r>
              <a:rPr lang="en-US" sz="800" b="0" strike="noStrike" spc="-1" dirty="0"/>
              <a:t>, depth</a:t>
            </a:r>
            <a:r>
              <a:rPr lang="en-US" sz="800" b="0" strike="noStrike" spc="-1" dirty="0" smtClean="0"/>
              <a:t>&gt;=50</a:t>
            </a:r>
            <a:r>
              <a:rPr lang="en-US" sz="800" b="0" strike="noStrike" spc="-1" dirty="0"/>
              <a:t>, </a:t>
            </a:r>
            <a:r>
              <a:rPr lang="en-US" sz="800" b="0" strike="noStrike" spc="-1" dirty="0" smtClean="0"/>
              <a:t>excludes </a:t>
            </a:r>
            <a:r>
              <a:rPr lang="en-US" sz="800" b="0" strike="noStrike" spc="-1" dirty="0"/>
              <a:t>synonymous. </a:t>
            </a:r>
            <a:endParaRPr lang="en-US" sz="800" b="0" strike="noStrike" spc="-1" dirty="0" smtClean="0"/>
          </a:p>
          <a:p>
            <a:r>
              <a:rPr lang="en-US" sz="800" spc="-1" dirty="0" smtClean="0"/>
              <a:t>*</a:t>
            </a:r>
            <a:r>
              <a:rPr lang="en-US" sz="800" spc="-1" dirty="0"/>
              <a:t>If tumor only, the somatic and germline origin of some of the assessed variants is uncertain which may cause the TMB value to be overestimated. </a:t>
            </a:r>
            <a:endParaRPr lang="en-US" sz="800" spc="-1" dirty="0" smtClean="0"/>
          </a:p>
          <a:p>
            <a:r>
              <a:rPr lang="en-US" sz="800" b="0" strike="noStrike" spc="-1" dirty="0" smtClean="0"/>
              <a:t>Observed TMB: </a:t>
            </a:r>
            <a:r>
              <a:rPr lang="en-US" sz="800" b="0" strike="noStrike" spc="-1" dirty="0"/>
              <a:t>Eligible variant / Effective Panel </a:t>
            </a:r>
            <a:r>
              <a:rPr lang="en-US" sz="800" spc="-1" dirty="0"/>
              <a:t>Size </a:t>
            </a:r>
            <a:r>
              <a:rPr lang="en-US" sz="800" spc="-1" dirty="0" smtClean="0"/>
              <a:t>(Millions of bases): </a:t>
            </a:r>
            <a:endParaRPr lang="en-US" sz="800" spc="-1" dirty="0" smtClean="0"/>
          </a:p>
          <a:p>
            <a:r>
              <a:rPr lang="en-US" sz="800" spc="-1" dirty="0"/>
              <a:t>TMB is not available (</a:t>
            </a:r>
            <a:r>
              <a:rPr lang="en-US" sz="800" spc="-1" dirty="0" smtClean="0"/>
              <a:t>blank) </a:t>
            </a:r>
            <a:r>
              <a:rPr lang="en-US" sz="800" spc="-1" dirty="0"/>
              <a:t>when Effective Panel Size &lt;  1.14 (90% of the target bases have read depth at least 50). Manual inspection is needed. </a:t>
            </a:r>
            <a:endParaRPr lang="en-US" sz="800" b="0" strike="noStrike" spc="-1" dirty="0" smtClean="0"/>
          </a:p>
          <a:p>
            <a:r>
              <a:rPr lang="en-US" sz="800" spc="-1" dirty="0"/>
              <a:t>Indicative threshold for Microsatellite (MS) status: Unstable if proportion of unstable MS sites ≥ 20%, Likely unstable when between 20% and &gt;=10%, otherwise stable. Unreliable when </a:t>
            </a:r>
            <a:r>
              <a:rPr lang="en-US" sz="800" spc="-1" dirty="0" smtClean="0"/>
              <a:t>number </a:t>
            </a:r>
            <a:r>
              <a:rPr lang="en-US" sz="800" spc="-1" dirty="0"/>
              <a:t>of usable sites is less than </a:t>
            </a:r>
            <a:r>
              <a:rPr lang="en-US" sz="800" spc="-1" dirty="0" smtClean="0"/>
              <a:t>40.</a:t>
            </a:r>
            <a:endParaRPr lang="en-US" sz="800" spc="-1" dirty="0" smtClean="0"/>
          </a:p>
          <a:p>
            <a:endParaRPr lang="en-US" sz="800" b="0" strike="noStrike" spc="-1" dirty="0" smtClean="0"/>
          </a:p>
          <a:p>
            <a:pPr>
              <a:lnSpc>
                <a:spcPct val="100000"/>
              </a:lnSpc>
            </a:pPr>
            <a:r>
              <a:rPr lang="en-US" sz="800" u="sng" spc="-1" dirty="0" smtClean="0"/>
              <a:t>Reports from the </a:t>
            </a:r>
            <a:r>
              <a:rPr lang="en-US" sz="800" b="0" u="sng" strike="noStrike" spc="-1" dirty="0" err="1" smtClean="0"/>
              <a:t>LocalApp</a:t>
            </a:r>
            <a:r>
              <a:rPr lang="en-US" sz="800" b="0" u="sng" strike="noStrike" spc="-1" dirty="0" smtClean="0"/>
              <a:t> from Illumina:</a:t>
            </a:r>
            <a:endParaRPr lang="en-US" sz="800" b="0" strike="noStrike" spc="-1" dirty="0" smtClean="0"/>
          </a:p>
          <a:p>
            <a:r>
              <a:rPr lang="en-US" sz="800" b="0" strike="noStrike" spc="-1" dirty="0" smtClean="0"/>
              <a:t>TMB </a:t>
            </a:r>
            <a:r>
              <a:rPr lang="en-US" sz="800" spc="-1" dirty="0" smtClean="0"/>
              <a:t>includes </a:t>
            </a:r>
            <a:r>
              <a:rPr lang="en-US" sz="800" spc="-1" dirty="0"/>
              <a:t>synonymous </a:t>
            </a:r>
            <a:r>
              <a:rPr lang="en-US" sz="800" b="0" strike="noStrike" spc="-1" dirty="0" smtClean="0"/>
              <a:t>(eligible variants): </a:t>
            </a:r>
            <a:endParaRPr lang="en-US" sz="800" b="0" strike="noStrike" spc="-1" dirty="0" smtClean="0"/>
          </a:p>
          <a:p>
            <a:r>
              <a:rPr lang="en-US" sz="800" spc="-1" dirty="0"/>
              <a:t>P</a:t>
            </a:r>
            <a:r>
              <a:rPr lang="en-US" sz="800" b="0" strike="noStrike" spc="-1" dirty="0" smtClean="0"/>
              <a:t>ercentage of unstable MS sites </a:t>
            </a:r>
            <a:r>
              <a:rPr lang="en-US" sz="800" b="0" strike="noStrike" spc="-1" dirty="0"/>
              <a:t>(</a:t>
            </a:r>
            <a:r>
              <a:rPr lang="en-US" sz="800" spc="-1" dirty="0"/>
              <a:t>unstable / </a:t>
            </a:r>
            <a:r>
              <a:rPr lang="en-US" sz="800" spc="-1" dirty="0" smtClean="0"/>
              <a:t>usable MS </a:t>
            </a:r>
            <a:r>
              <a:rPr lang="en-US" sz="800" b="0" strike="noStrike" spc="-1" dirty="0" smtClean="0"/>
              <a:t>site count):</a:t>
            </a:r>
            <a:r>
              <a:rPr lang="en-US" sz="800" spc="-1" dirty="0" smtClean="0"/>
              <a:t> </a:t>
            </a:r>
            <a:endParaRPr lang="en-US" sz="800" b="0" strike="noStrike" spc="-1" dirty="0" smtClean="0"/>
          </a:p>
          <a:p>
            <a:r>
              <a:rPr lang="en-US" sz="800" spc="-1" dirty="0" smtClean="0"/>
              <a:t>F</a:t>
            </a:r>
            <a:r>
              <a:rPr lang="en-US" sz="800" b="0" strike="noStrike" spc="-1" dirty="0" smtClean="0"/>
              <a:t>usion filter criteria: at least 3 unique supporting reads, one of which must be a split read (a single read covering the fusion breakpoint). </a:t>
            </a:r>
            <a:r>
              <a:rPr lang="en-US" sz="800" spc="-1" dirty="0" smtClean="0"/>
              <a:t>Splice variant with involved exons in parenthesis.</a:t>
            </a:r>
            <a:endParaRPr lang="en-US" sz="800" b="0" strike="noStrike" spc="-1" dirty="0" smtClean="0"/>
          </a:p>
          <a:p>
            <a:endParaRPr lang="en-US" sz="800" spc="-1" dirty="0"/>
          </a:p>
          <a:p>
            <a:r>
              <a:rPr lang="en-US" sz="800" u="sng" spc="-1" dirty="0" smtClean="0"/>
              <a:t>Initial report: </a:t>
            </a:r>
            <a:endParaRPr lang="en-US" sz="800" u="sng" spc="-1" dirty="0"/>
          </a:p>
          <a:p>
            <a:r>
              <a:rPr lang="en-US" sz="800" spc="-1" dirty="0"/>
              <a:t>Orange header refers to this report being in the initial reporting phase. In the final report for </a:t>
            </a:r>
            <a:r>
              <a:rPr lang="en-US" sz="800" spc="-1" dirty="0" err="1"/>
              <a:t>Mol</a:t>
            </a:r>
            <a:r>
              <a:rPr lang="en-US" sz="800" spc="-1" dirty="0"/>
              <a:t>-MDT the header will be blue. </a:t>
            </a:r>
            <a:endParaRPr lang="en-US" sz="800" spc="-1" dirty="0"/>
          </a:p>
          <a:p>
            <a:r>
              <a:rPr lang="en-US" sz="800" spc="-1" dirty="0">
                <a:sym typeface="+mn-ea"/>
              </a:rPr>
              <a:t>Variants of uncertain significance (VUS) refer to variants with unknown/ unclear / inconclusive / contradictory functional consequence in cancer. Level of evidence for experimental treatment follows ESCAT guidelines and will be defined by the respective study/trial</a:t>
            </a:r>
            <a:r>
              <a:rPr lang="en-US" sz="800" spc="-1" dirty="0" smtClean="0">
                <a:sym typeface="+mn-ea"/>
              </a:rPr>
              <a:t>.</a:t>
            </a:r>
            <a:endParaRPr lang="en-US" sz="800" spc="-1" dirty="0" smtClean="0">
              <a:sym typeface="+mn-ea"/>
            </a:endParaRPr>
          </a:p>
          <a:p>
            <a:r>
              <a:rPr lang="en-US" sz="800" b="0" strike="noStrike" spc="-1" smtClean="0">
                <a:solidFill>
                  <a:schemeClr val="tx1"/>
                </a:solidFill>
                <a:sym typeface="+mn-ea"/>
              </a:rPr>
              <a:t>The tumor </a:t>
            </a:r>
            <a:r>
              <a:rPr lang="en-US" sz="800" b="0" strike="noStrike" spc="-1" dirty="0" smtClean="0">
                <a:solidFill>
                  <a:schemeClr val="tx1"/>
                </a:solidFill>
                <a:sym typeface="+mn-ea"/>
              </a:rPr>
              <a:t>content is estimated by a pathologist </a:t>
            </a:r>
            <a:r>
              <a:rPr lang="en-US" sz="800" spc="-1" dirty="0" smtClean="0">
                <a:solidFill>
                  <a:schemeClr val="tx1"/>
                </a:solidFill>
                <a:sym typeface="+mn-ea"/>
              </a:rPr>
              <a:t>unless</a:t>
            </a:r>
            <a:r>
              <a:rPr lang="en-US" sz="800" b="0" strike="noStrike" spc="-1" dirty="0" smtClean="0">
                <a:solidFill>
                  <a:schemeClr val="tx1"/>
                </a:solidFill>
                <a:sym typeface="+mn-ea"/>
              </a:rPr>
              <a:t> otherwise specified. This tumor content </a:t>
            </a:r>
            <a:r>
              <a:rPr lang="en-US" sz="800" spc="-1" dirty="0" smtClean="0">
                <a:solidFill>
                  <a:schemeClr val="tx1"/>
                </a:solidFill>
                <a:sym typeface="+mn-ea"/>
              </a:rPr>
              <a:t>is used as input in the post </a:t>
            </a:r>
            <a:r>
              <a:rPr lang="en-US" sz="800" spc="-1" dirty="0">
                <a:solidFill>
                  <a:schemeClr val="tx1"/>
                </a:solidFill>
                <a:sym typeface="+mn-ea"/>
              </a:rPr>
              <a:t>processing </a:t>
            </a:r>
            <a:r>
              <a:rPr lang="en-US" sz="800" spc="-1" dirty="0" smtClean="0">
                <a:solidFill>
                  <a:schemeClr val="tx1"/>
                </a:solidFill>
                <a:sym typeface="+mn-ea"/>
              </a:rPr>
              <a:t>pipeline (TSOPPI). </a:t>
            </a:r>
            <a:endParaRPr lang="en-US" sz="800" b="0" strike="noStrike" spc="-1" dirty="0" smtClean="0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62" name="Straight Connector 53"/>
          <p:cNvCxnSpPr/>
          <p:nvPr/>
        </p:nvCxnSpPr>
        <p:spPr>
          <a:xfrm>
            <a:off x="3347864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8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7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Rectangle 53"/>
          <p:cNvSpPr/>
          <p:nvPr/>
        </p:nvSpPr>
        <p:spPr>
          <a:xfrm>
            <a:off x="166080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2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13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14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17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9" name="Rectangle 73"/>
          <p:cNvSpPr/>
          <p:nvPr/>
        </p:nvSpPr>
        <p:spPr>
          <a:xfrm>
            <a:off x="1218" y="-5264"/>
            <a:ext cx="503640" cy="6731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strike="noStrike" spc="-1" dirty="0" smtClean="0">
                <a:solidFill>
                  <a:srgbClr val="FFFFFF"/>
                </a:solidFill>
                <a:latin typeface="Calibri"/>
              </a:rPr>
              <a:t>xx</a:t>
            </a:r>
            <a:endParaRPr lang="en-US" sz="18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FFFFFF"/>
                </a:solidFill>
                <a:latin typeface="Calibri"/>
              </a:rPr>
              <a:t>XXX</a:t>
            </a:r>
            <a:endParaRPr lang="en-US" sz="12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800" b="0" strike="noStrike" spc="-1" dirty="0" smtClean="0">
                <a:solidFill>
                  <a:srgbClr val="FFFFFF"/>
                </a:solidFill>
                <a:latin typeface="Calibri"/>
              </a:rPr>
              <a:t>202</a:t>
            </a:r>
            <a:r>
              <a:rPr lang="nb-NO" altLang="en-US" sz="800" b="0" strike="noStrike" spc="-1" dirty="0" smtClean="0">
                <a:solidFill>
                  <a:srgbClr val="FFFFFF"/>
                </a:solidFill>
                <a:latin typeface="Calibri"/>
              </a:rPr>
              <a:t>6</a:t>
            </a:r>
            <a:endParaRPr lang="nb-NO" altLang="en-US" sz="800" b="0" strike="noStrike" spc="-1" dirty="0" smtClean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0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55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7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8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60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61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3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4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66" name="Bilde 6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763"/>
          <a:stretch>
            <a:fillRect/>
          </a:stretch>
        </p:blipFill>
        <p:spPr>
          <a:xfrm>
            <a:off x="179070" y="4227830"/>
            <a:ext cx="576580" cy="542925"/>
          </a:xfrm>
          <a:prstGeom prst="rect">
            <a:avLst/>
          </a:prstGeom>
        </p:spPr>
      </p:pic>
      <p:sp>
        <p:nvSpPr>
          <p:cNvPr id="67" name="TekstSylinder 66"/>
          <p:cNvSpPr txBox="1"/>
          <p:nvPr/>
        </p:nvSpPr>
        <p:spPr>
          <a:xfrm>
            <a:off x="647065" y="4493895"/>
            <a:ext cx="91821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Infrastructure for </a:t>
            </a:r>
            <a:endParaRPr lang="en-US" sz="600" dirty="0">
              <a:solidFill>
                <a:srgbClr val="005495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ctr"/>
            <a:r>
              <a: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Precision Diagnostics</a:t>
            </a:r>
            <a:endParaRPr lang="nb-NO" sz="600" dirty="0">
              <a:solidFill>
                <a:srgbClr val="005495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8" name="Bilde 67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17" r="-3477"/>
          <a:stretch>
            <a:fillRect/>
          </a:stretch>
        </p:blipFill>
        <p:spPr>
          <a:xfrm>
            <a:off x="737235" y="4139565"/>
            <a:ext cx="791845" cy="542925"/>
          </a:xfrm>
          <a:prstGeom prst="rect">
            <a:avLst/>
          </a:prstGeom>
        </p:spPr>
      </p:pic>
      <p:sp>
        <p:nvSpPr>
          <p:cNvPr id="69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71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73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4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53" name="TekstSylinder 52"/>
          <p:cNvSpPr txBox="1"/>
          <p:nvPr/>
        </p:nvSpPr>
        <p:spPr>
          <a:xfrm>
            <a:off x="7109460" y="4911725"/>
            <a:ext cx="203454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</a:t>
            </a:r>
            <a:r>
              <a:rPr lang="en-US" sz="800" dirty="0" smtClean="0"/>
              <a:t> Variant </a:t>
            </a:r>
            <a:r>
              <a:rPr lang="en-US" sz="800" dirty="0"/>
              <a:t>of u</a:t>
            </a:r>
            <a:r>
              <a:rPr lang="nb-NO" altLang="en-US" sz="800" dirty="0"/>
              <a:t>nclear</a:t>
            </a:r>
            <a:r>
              <a:rPr lang="en-US" sz="800" dirty="0"/>
              <a:t> significance (VUS)</a:t>
            </a:r>
            <a:endParaRPr lang="en-US" sz="800" dirty="0"/>
          </a:p>
        </p:txBody>
      </p:sp>
      <p:sp>
        <p:nvSpPr>
          <p:cNvPr id="75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sp>
        <p:nvSpPr>
          <p:cNvPr id="9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1789707"/>
          </a:xfrm>
        </p:spPr>
        <p:txBody>
          <a:bodyPr>
            <a:normAutofit/>
          </a:bodyPr>
          <a:lstStyle/>
          <a:p>
            <a:r>
              <a:rPr lang="en-US" dirty="0" smtClean="0"/>
              <a:t>The following slides are for </a:t>
            </a:r>
            <a:br>
              <a:rPr lang="en-US" dirty="0" smtClean="0"/>
            </a:br>
            <a:r>
              <a:rPr lang="en-US" dirty="0" smtClean="0"/>
              <a:t>the molecular tumor board</a:t>
            </a:r>
            <a:endParaRPr lang="en-US" dirty="0"/>
          </a:p>
        </p:txBody>
      </p:sp>
      <p:sp>
        <p:nvSpPr>
          <p:cNvPr id="3" name="Plassholder for innhold 2"/>
          <p:cNvSpPr>
            <a:spLocks noGrp="1"/>
          </p:cNvSpPr>
          <p:nvPr>
            <p:ph idx="1"/>
          </p:nvPr>
        </p:nvSpPr>
        <p:spPr>
          <a:xfrm>
            <a:off x="457200" y="2499741"/>
            <a:ext cx="8229600" cy="2094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 smtClean="0"/>
              <a:t>Contains clinical information from the </a:t>
            </a:r>
            <a:r>
              <a:rPr lang="en-US" sz="2000" dirty="0">
                <a:solidFill>
                  <a:schemeClr val="tx1"/>
                </a:solidFill>
              </a:rPr>
              <a:t>file </a:t>
            </a:r>
            <a:r>
              <a:rPr lang="en-US" sz="2000" dirty="0" smtClean="0">
                <a:solidFill>
                  <a:schemeClr val="tx1"/>
                </a:solidFill>
              </a:rPr>
              <a:t>“</a:t>
            </a:r>
            <a:r>
              <a:rPr lang="en-US" sz="2000" dirty="0" err="1" smtClean="0">
                <a:solidFill>
                  <a:schemeClr val="tx1"/>
                </a:solidFill>
              </a:rPr>
              <a:t>InPreD_PRONTO_metadata</a:t>
            </a:r>
            <a:r>
              <a:rPr lang="en-US" sz="2000" dirty="0" smtClean="0">
                <a:solidFill>
                  <a:schemeClr val="tx1"/>
                </a:solidFill>
              </a:rPr>
              <a:t>”. </a:t>
            </a:r>
            <a:endParaRPr lang="en-US" sz="2000" dirty="0" smtClean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39"/>
          <p:cNvSpPr/>
          <p:nvPr/>
        </p:nvSpPr>
        <p:spPr>
          <a:xfrm>
            <a:off x="8233920" y="90720"/>
            <a:ext cx="1223640" cy="486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MTB</a:t>
            </a:r>
            <a:endParaRPr lang="en-US" sz="1600" b="0" strike="noStrike" spc="-1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49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54" name="Rectangle 95"/>
          <p:cNvSpPr/>
          <p:nvPr/>
        </p:nvSpPr>
        <p:spPr>
          <a:xfrm>
            <a:off x="1691640" y="733320"/>
            <a:ext cx="6779160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100" b="1" strike="noStrike" spc="-1" dirty="0">
                <a:solidFill>
                  <a:srgbClr val="000000"/>
                </a:solidFill>
                <a:latin typeface="Calibri"/>
              </a:rPr>
              <a:t>CLINICAL CASE:</a:t>
            </a: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endParaRPr lang="en-US" sz="1100" b="0" strike="noStrike" spc="-1" dirty="0">
              <a:latin typeface="Arial" panose="020B0604020202090204"/>
            </a:endParaRPr>
          </a:p>
        </p:txBody>
      </p:sp>
      <p:sp>
        <p:nvSpPr>
          <p:cNvPr id="73" name="TextBox 60"/>
          <p:cNvSpPr/>
          <p:nvPr/>
        </p:nvSpPr>
        <p:spPr>
          <a:xfrm>
            <a:off x="254000" y="1980000"/>
            <a:ext cx="16789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nb-NO" sz="8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" name="Rektangel 87"/>
          <p:cNvSpPr/>
          <p:nvPr/>
        </p:nvSpPr>
        <p:spPr>
          <a:xfrm>
            <a:off x="6621622" y="752436"/>
            <a:ext cx="104233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100" b="1" spc="-1" dirty="0" smtClean="0">
                <a:solidFill>
                  <a:srgbClr val="000000"/>
                </a:solidFill>
              </a:rPr>
              <a:t>BIOMATERIAL:</a:t>
            </a:r>
            <a:endParaRPr lang="en-US" sz="1100" b="1" spc="-1" dirty="0" smtClean="0">
              <a:solidFill>
                <a:srgbClr val="000000"/>
              </a:solidFill>
            </a:endParaRPr>
          </a:p>
        </p:txBody>
      </p:sp>
      <p:sp>
        <p:nvSpPr>
          <p:cNvPr id="11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3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4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5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7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8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9" name="Rectangle 73"/>
          <p:cNvSpPr/>
          <p:nvPr/>
        </p:nvSpPr>
        <p:spPr>
          <a:xfrm>
            <a:off x="1218" y="-5264"/>
            <a:ext cx="503640" cy="6731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strike="noStrike" spc="-1" dirty="0" smtClean="0">
                <a:solidFill>
                  <a:srgbClr val="FFFFFF"/>
                </a:solidFill>
                <a:latin typeface="Calibri"/>
              </a:rPr>
              <a:t>xx</a:t>
            </a:r>
            <a:endParaRPr lang="en-US" sz="18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FFFFFF"/>
                </a:solidFill>
                <a:latin typeface="Calibri"/>
              </a:rPr>
              <a:t>XXX</a:t>
            </a:r>
            <a:endParaRPr lang="en-US" sz="12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800" b="0" strike="noStrike" spc="-1" dirty="0" smtClean="0">
                <a:solidFill>
                  <a:srgbClr val="FFFFFF"/>
                </a:solidFill>
                <a:latin typeface="Calibri"/>
              </a:rPr>
              <a:t>202</a:t>
            </a:r>
            <a:r>
              <a:rPr lang="nb-NO" altLang="en-US" sz="800" b="0" strike="noStrike" spc="-1" dirty="0" smtClean="0">
                <a:solidFill>
                  <a:srgbClr val="FFFFFF"/>
                </a:solidFill>
                <a:latin typeface="Calibri"/>
              </a:rPr>
              <a:t>6</a:t>
            </a:r>
            <a:endParaRPr lang="nb-NO" altLang="en-US" sz="800" b="0" strike="noStrike" spc="-1" dirty="0" smtClean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21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ktangel 1"/>
          <p:cNvSpPr/>
          <p:nvPr/>
        </p:nvSpPr>
        <p:spPr>
          <a:xfrm>
            <a:off x="128774" y="4940622"/>
            <a:ext cx="649080" cy="196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nb-NO" sz="700" b="0" strike="noStrike" spc="-1" dirty="0" err="1">
                <a:solidFill>
                  <a:srgbClr val="000000"/>
                </a:solidFill>
                <a:latin typeface="Calibri"/>
              </a:rPr>
              <a:t>Inclusion</a:t>
            </a:r>
            <a:r>
              <a:rPr lang="nb-NO" sz="7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nb-NO" sz="700" b="0" strike="noStrike" spc="-1" dirty="0" err="1">
                <a:solidFill>
                  <a:srgbClr val="000000"/>
                </a:solidFill>
                <a:latin typeface="Calibri"/>
              </a:rPr>
              <a:t>site</a:t>
            </a:r>
            <a:endParaRPr lang="en-US" sz="700" b="0" strike="noStrike" spc="-1" dirty="0">
              <a:latin typeface="Arial" panose="020B0604020202090204"/>
            </a:endParaRPr>
          </a:p>
        </p:txBody>
      </p:sp>
      <p:grpSp>
        <p:nvGrpSpPr>
          <p:cNvPr id="86" name="Gruppe 41"/>
          <p:cNvGrpSpPr/>
          <p:nvPr/>
        </p:nvGrpSpPr>
        <p:grpSpPr>
          <a:xfrm>
            <a:off x="68535" y="4904277"/>
            <a:ext cx="149517" cy="222810"/>
            <a:chOff x="171000" y="979920"/>
            <a:chExt cx="182160" cy="263520"/>
          </a:xfrm>
        </p:grpSpPr>
        <p:sp>
          <p:nvSpPr>
            <p:cNvPr id="87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9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42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3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4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50" name="Gruppe 49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51" name="Bilde 50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52" name="TekstSylinder 51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53" name="Bilde 52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55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57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8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59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0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39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grpSp>
        <p:nvGrpSpPr>
          <p:cNvPr id="64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65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6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7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Rectangle 39"/>
          <p:cNvSpPr/>
          <p:nvPr/>
        </p:nvSpPr>
        <p:spPr>
          <a:xfrm>
            <a:off x="8233920" y="90720"/>
            <a:ext cx="1223640" cy="486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MTB</a:t>
            </a:r>
            <a:endParaRPr lang="en-US" sz="1600" b="0" strike="noStrike" spc="-1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92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116" name="Rectangle 55"/>
          <p:cNvSpPr/>
          <p:nvPr/>
        </p:nvSpPr>
        <p:spPr>
          <a:xfrm>
            <a:off x="6630035" y="808355"/>
            <a:ext cx="2447925" cy="6902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Rectangle 57"/>
          <p:cNvSpPr/>
          <p:nvPr/>
        </p:nvSpPr>
        <p:spPr>
          <a:xfrm>
            <a:off x="6665760" y="811800"/>
            <a:ext cx="237600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SEQUENCING FACILITY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18" name="Rectangle 58"/>
          <p:cNvSpPr/>
          <p:nvPr/>
        </p:nvSpPr>
        <p:spPr>
          <a:xfrm>
            <a:off x="6537525" y="1059835"/>
            <a:ext cx="263376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nb-NO" altLang="en-US" sz="1000" b="0" strike="noStrike" spc="-1" dirty="0">
                <a:solidFill>
                  <a:srgbClr val="595959"/>
                </a:solidFill>
                <a:latin typeface="Calibri"/>
              </a:rPr>
              <a:t>Department of Pathology</a:t>
            </a: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, </a:t>
            </a:r>
            <a:endParaRPr lang="en-US" sz="1000" b="0" strike="noStrike" spc="-1" dirty="0">
              <a:solidFill>
                <a:srgbClr val="595959"/>
              </a:solidFill>
              <a:latin typeface="Calibri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Oslo University Hospital</a:t>
            </a:r>
            <a:endParaRPr lang="en-US" sz="1000" b="0" strike="noStrike" spc="-1" dirty="0">
              <a:solidFill>
                <a:srgbClr val="595959"/>
              </a:solidFill>
              <a:latin typeface="Calibri"/>
            </a:endParaRPr>
          </a:p>
        </p:txBody>
      </p:sp>
      <p:sp>
        <p:nvSpPr>
          <p:cNvPr id="120" name="Rectangle 92"/>
          <p:cNvSpPr/>
          <p:nvPr/>
        </p:nvSpPr>
        <p:spPr>
          <a:xfrm>
            <a:off x="1763640" y="3385440"/>
            <a:ext cx="863640" cy="33372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pic>
        <p:nvPicPr>
          <p:cNvPr id="122" name="Picture 4" descr="C:\Users\vigdisny\AppData\Local\Microsoft\Windows\INetCache\IE\4VAY8QE2\Green_check.svg[1]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1913231" y="1041173"/>
            <a:ext cx="390600" cy="390600"/>
          </a:xfrm>
          <a:prstGeom prst="rect">
            <a:avLst/>
          </a:prstGeom>
          <a:ln w="0">
            <a:noFill/>
          </a:ln>
        </p:spPr>
      </p:pic>
      <p:sp>
        <p:nvSpPr>
          <p:cNvPr id="125" name="Rectangle 92"/>
          <p:cNvSpPr/>
          <p:nvPr/>
        </p:nvSpPr>
        <p:spPr>
          <a:xfrm>
            <a:off x="1746000" y="1627560"/>
            <a:ext cx="863640" cy="33372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73" name="TextBox 60"/>
          <p:cNvSpPr/>
          <p:nvPr/>
        </p:nvSpPr>
        <p:spPr>
          <a:xfrm>
            <a:off x="254000" y="1980000"/>
            <a:ext cx="167894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endParaRPr lang="en-US" sz="800" b="0" strike="noStrike" spc="-1" dirty="0" smtClean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b="0" strike="noStrike" spc="-1" dirty="0">
              <a:latin typeface="Arial" panose="020B0604020202090204"/>
            </a:endParaRPr>
          </a:p>
        </p:txBody>
      </p:sp>
      <p:sp>
        <p:nvSpPr>
          <p:cNvPr id="49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0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51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53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54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5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9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0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1" name="Rectangle 73"/>
          <p:cNvSpPr/>
          <p:nvPr/>
        </p:nvSpPr>
        <p:spPr>
          <a:xfrm>
            <a:off x="1218" y="-5264"/>
            <a:ext cx="503640" cy="6731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strike="noStrike" spc="-1" dirty="0" smtClean="0">
                <a:solidFill>
                  <a:srgbClr val="FFFFFF"/>
                </a:solidFill>
                <a:latin typeface="Calibri"/>
              </a:rPr>
              <a:t>xx</a:t>
            </a:r>
            <a:endParaRPr lang="en-US" sz="18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FFFFFF"/>
                </a:solidFill>
                <a:latin typeface="Calibri"/>
              </a:rPr>
              <a:t>XXX</a:t>
            </a:r>
            <a:endParaRPr lang="en-US" sz="12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800" b="0" strike="noStrike" spc="-1" dirty="0" smtClean="0">
                <a:solidFill>
                  <a:srgbClr val="FFFFFF"/>
                </a:solidFill>
                <a:latin typeface="Calibri"/>
              </a:rPr>
              <a:t>202</a:t>
            </a:r>
            <a:r>
              <a:rPr lang="nb-NO" altLang="en-US" sz="800" b="0" strike="noStrike" spc="-1" dirty="0" smtClean="0">
                <a:solidFill>
                  <a:srgbClr val="FFFFFF"/>
                </a:solidFill>
                <a:latin typeface="Calibri"/>
              </a:rPr>
              <a:t>6</a:t>
            </a:r>
            <a:endParaRPr lang="nb-NO" altLang="en-US" sz="800" b="0" strike="noStrike" spc="-1" dirty="0" smtClean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2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0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76"/>
          <p:cNvSpPr/>
          <p:nvPr/>
        </p:nvSpPr>
        <p:spPr>
          <a:xfrm>
            <a:off x="1684706" y="718003"/>
            <a:ext cx="4824000" cy="425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100" b="1" strike="noStrike" spc="-1" dirty="0">
                <a:solidFill>
                  <a:srgbClr val="000000"/>
                </a:solidFill>
                <a:latin typeface="Calibri"/>
              </a:rPr>
              <a:t>QUALITY CONTROL MEASURES OF SEQUENCING DATA </a:t>
            </a: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r>
              <a:rPr lang="en-US" sz="1100" b="1" strike="noStrike" spc="-1" dirty="0">
                <a:solidFill>
                  <a:srgbClr val="000000"/>
                </a:solidFill>
                <a:latin typeface="Calibri"/>
              </a:rPr>
              <a:t>  </a:t>
            </a:r>
            <a:endParaRPr lang="en-US" sz="1100" b="0" strike="noStrike" spc="-1" dirty="0">
              <a:latin typeface="Arial" panose="020B0604020202090204"/>
            </a:endParaRPr>
          </a:p>
        </p:txBody>
      </p:sp>
      <p:sp>
        <p:nvSpPr>
          <p:cNvPr id="44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5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57" name="Gruppe 56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58" name="Bilde 5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65" name="TekstSylinder 64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71" name="Bilde 70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81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86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7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88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sp>
        <p:nvSpPr>
          <p:cNvPr id="9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  <p:grpSp>
        <p:nvGrpSpPr>
          <p:cNvPr id="63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64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6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7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2" name="TekstSylinder 1"/>
          <p:cNvSpPr txBox="1"/>
          <p:nvPr/>
        </p:nvSpPr>
        <p:spPr>
          <a:xfrm>
            <a:off x="2261398" y="1000269"/>
            <a:ext cx="27453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tx1"/>
                </a:solidFill>
              </a:rPr>
              <a:t>Approved if observed quality metrics are within regions marked green </a:t>
            </a:r>
            <a:endParaRPr lang="en-US" sz="1200" dirty="0" smtClean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8267241" y="90678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8" name="Rectangle 45"/>
          <p:cNvSpPr/>
          <p:nvPr/>
        </p:nvSpPr>
        <p:spPr>
          <a:xfrm>
            <a:off x="1684706" y="711221"/>
            <a:ext cx="22445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SUMMARY OF KEY FINDINGS </a:t>
            </a:r>
            <a:endParaRPr lang="en-US" sz="1100" b="1" dirty="0"/>
          </a:p>
        </p:txBody>
      </p:sp>
      <p:graphicFrame>
        <p:nvGraphicFramePr>
          <p:cNvPr id="79" name="Table 4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0" y="987573"/>
          <a:ext cx="4851641" cy="32004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371118"/>
                <a:gridCol w="1261802"/>
                <a:gridCol w="324000"/>
                <a:gridCol w="816460"/>
                <a:gridCol w="742236"/>
                <a:gridCol w="519566"/>
                <a:gridCol w="816459"/>
              </a:tblGrid>
              <a:tr h="31203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SNVs/</a:t>
                      </a:r>
                      <a:endParaRPr lang="nb-NO" sz="700" b="1" dirty="0" smtClean="0"/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indels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nr</a:t>
                      </a:r>
                      <a:r>
                        <a:rPr lang="en-US" sz="700" i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of SNVs/indels</a:t>
                      </a:r>
                      <a:endParaRPr lang="en-US" sz="700" i="1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 protein coding sequence</a:t>
                      </a:r>
                      <a:endParaRPr lang="en-US" sz="700" b="1" i="0" baseline="0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1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alter protein coding sequence</a:t>
                      </a:r>
                      <a:endParaRPr lang="en-US" sz="60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1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/>
                        <a:t>Copy number variants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latin typeface="+mn-lt"/>
                          <a:ea typeface="Times New Roman" panose="02020503050405090304"/>
                        </a:rPr>
                        <a:t>Gene</a:t>
                      </a:r>
                      <a:r>
                        <a:rPr lang="en-US" sz="700" b="1" baseline="0" dirty="0" smtClean="0">
                          <a:latin typeface="+mn-lt"/>
                          <a:ea typeface="Times New Roman" panose="02020503050405090304"/>
                        </a:rPr>
                        <a:t> fusions</a:t>
                      </a:r>
                      <a:endParaRPr lang="en-US" sz="700" b="1" baseline="0" dirty="0" smtClean="0">
                        <a:latin typeface="+mn-lt"/>
                        <a:ea typeface="Times New Roman" panose="02020503050405090304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baseline="0" dirty="0" smtClean="0">
                          <a:latin typeface="+mn-lt"/>
                          <a:ea typeface="Times New Roman" panose="02020503050405090304"/>
                        </a:rPr>
                        <a:t> </a:t>
                      </a:r>
                      <a:r>
                        <a:rPr lang="en-US" sz="7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Times New Roman" panose="02020503050405090304"/>
                        </a:rPr>
                        <a:t>RNA</a:t>
                      </a:r>
                      <a:endParaRPr 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Table 49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691680" y="1462405"/>
          <a:ext cx="4845200" cy="3657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563084"/>
                <a:gridCol w="2942958"/>
                <a:gridCol w="520358"/>
                <a:gridCol w="818800"/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1000" b="0" dirty="0" smtClean="0"/>
                        <a:t>TMB</a:t>
                      </a:r>
                      <a:endParaRPr lang="en-US" sz="1000" b="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1100" b="0" dirty="0" smtClean="0">
                        <a:latin typeface="+mn-lt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nb-NO" sz="800" b="0" dirty="0" smtClean="0">
                          <a:latin typeface="+mn-lt"/>
                          <a:ea typeface="+mn-ea"/>
                        </a:rPr>
                        <a:t>status</a:t>
                      </a:r>
                      <a:endParaRPr lang="en-US" sz="800" b="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83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50"/>
          <p:cNvSpPr/>
          <p:nvPr/>
        </p:nvSpPr>
        <p:spPr>
          <a:xfrm>
            <a:off x="2483768" y="1544201"/>
            <a:ext cx="2520280" cy="72008"/>
          </a:xfrm>
          <a:prstGeom prst="rect">
            <a:avLst/>
          </a:prstGeom>
          <a:gradFill flip="none" rotWithShape="1">
            <a:gsLst>
              <a:gs pos="0">
                <a:srgbClr val="0070C0"/>
              </a:gs>
              <a:gs pos="75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53"/>
          <p:cNvCxnSpPr/>
          <p:nvPr/>
        </p:nvCxnSpPr>
        <p:spPr>
          <a:xfrm>
            <a:off x="3347864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54"/>
          <p:cNvSpPr txBox="1"/>
          <p:nvPr/>
        </p:nvSpPr>
        <p:spPr>
          <a:xfrm>
            <a:off x="2457568" y="1573456"/>
            <a:ext cx="34825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Low</a:t>
            </a:r>
            <a:endParaRPr lang="en-US" sz="600" i="1" dirty="0"/>
          </a:p>
        </p:txBody>
      </p:sp>
      <p:sp>
        <p:nvSpPr>
          <p:cNvPr id="91" name="TextBox 55"/>
          <p:cNvSpPr txBox="1"/>
          <p:nvPr/>
        </p:nvSpPr>
        <p:spPr>
          <a:xfrm>
            <a:off x="2755081" y="1575266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Intermediate</a:t>
            </a:r>
            <a:endParaRPr lang="en-US" sz="600" i="1" dirty="0"/>
          </a:p>
        </p:txBody>
      </p:sp>
      <p:sp>
        <p:nvSpPr>
          <p:cNvPr id="92" name="TextBox 56"/>
          <p:cNvSpPr txBox="1"/>
          <p:nvPr/>
        </p:nvSpPr>
        <p:spPr>
          <a:xfrm>
            <a:off x="3491880" y="1573972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High</a:t>
            </a:r>
            <a:endParaRPr lang="en-US" sz="600" i="1" dirty="0"/>
          </a:p>
        </p:txBody>
      </p:sp>
      <p:sp>
        <p:nvSpPr>
          <p:cNvPr id="116" name="TextBox 60"/>
          <p:cNvSpPr txBox="1"/>
          <p:nvPr/>
        </p:nvSpPr>
        <p:spPr>
          <a:xfrm>
            <a:off x="2669510" y="1605037"/>
            <a:ext cx="23384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5</a:t>
            </a:r>
            <a:endParaRPr lang="en-US" sz="600" b="1" i="1" dirty="0"/>
          </a:p>
        </p:txBody>
      </p:sp>
      <p:sp>
        <p:nvSpPr>
          <p:cNvPr id="122" name="TextBox 61"/>
          <p:cNvSpPr txBox="1"/>
          <p:nvPr/>
        </p:nvSpPr>
        <p:spPr>
          <a:xfrm>
            <a:off x="3207296" y="1612835"/>
            <a:ext cx="2845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20</a:t>
            </a:r>
            <a:endParaRPr lang="en-US" sz="600" b="1" i="1" dirty="0"/>
          </a:p>
        </p:txBody>
      </p:sp>
      <p:sp>
        <p:nvSpPr>
          <p:cNvPr id="131" name="Rectangle 80"/>
          <p:cNvSpPr/>
          <p:nvPr/>
        </p:nvSpPr>
        <p:spPr>
          <a:xfrm>
            <a:off x="3975800" y="1623394"/>
            <a:ext cx="118814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i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Potentially overestimated TMB*</a:t>
            </a:r>
            <a:endParaRPr lang="en-US" sz="6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2" name="TextBox 81"/>
          <p:cNvSpPr txBox="1"/>
          <p:nvPr/>
        </p:nvSpPr>
        <p:spPr>
          <a:xfrm>
            <a:off x="3901951" y="1571012"/>
            <a:ext cx="1440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C000"/>
                </a:solidFill>
              </a:rPr>
              <a:t>o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03" name="TextBox 54"/>
          <p:cNvSpPr txBox="1"/>
          <p:nvPr/>
        </p:nvSpPr>
        <p:spPr>
          <a:xfrm>
            <a:off x="2197995" y="1473248"/>
            <a:ext cx="348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 err="1" smtClean="0"/>
              <a:t>Mut</a:t>
            </a:r>
            <a:r>
              <a:rPr lang="en-US" sz="600" dirty="0" smtClean="0"/>
              <a:t>/Mb</a:t>
            </a:r>
            <a:endParaRPr lang="en-US" sz="600" dirty="0"/>
          </a:p>
        </p:txBody>
      </p:sp>
      <p:sp>
        <p:nvSpPr>
          <p:cNvPr id="12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73" name="TextBox 60"/>
          <p:cNvSpPr/>
          <p:nvPr/>
        </p:nvSpPr>
        <p:spPr>
          <a:xfrm>
            <a:off x="254000" y="1980000"/>
            <a:ext cx="1678940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endParaRPr lang="en-US" sz="800" b="0" strike="noStrike" spc="-1" dirty="0" smtClean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b="0" strike="noStrike" spc="-1" dirty="0" smtClean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b="0" strike="noStrike" spc="-1" dirty="0">
              <a:latin typeface="Arial" panose="020B0604020202090204"/>
            </a:endParaRPr>
          </a:p>
        </p:txBody>
      </p:sp>
      <p:cxnSp>
        <p:nvCxnSpPr>
          <p:cNvPr id="86" name="Straight Connector 53"/>
          <p:cNvCxnSpPr/>
          <p:nvPr/>
        </p:nvCxnSpPr>
        <p:spPr>
          <a:xfrm>
            <a:off x="2771800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 Box 2"/>
          <p:cNvSpPr/>
          <p:nvPr/>
        </p:nvSpPr>
        <p:spPr>
          <a:xfrm>
            <a:off x="1660320" y="1966273"/>
            <a:ext cx="4883001" cy="365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900" spc="-1" dirty="0" smtClean="0">
                <a:latin typeface="Calibri"/>
              </a:rPr>
              <a:t>TMB </a:t>
            </a:r>
            <a:r>
              <a:rPr lang="en-US" sz="900" spc="-1" dirty="0" err="1" smtClean="0">
                <a:latin typeface="Calibri"/>
              </a:rPr>
              <a:t>InPreD</a:t>
            </a:r>
            <a:r>
              <a:rPr lang="en-US" sz="900" spc="-1" dirty="0" smtClean="0">
                <a:latin typeface="Calibri"/>
              </a:rPr>
              <a:t> calculated as </a:t>
            </a:r>
            <a:r>
              <a:rPr lang="en-US" sz="900" b="0" strike="noStrike" spc="-1" dirty="0" smtClean="0"/>
              <a:t>Eligible </a:t>
            </a:r>
            <a:r>
              <a:rPr lang="en-US" sz="900" b="0" strike="noStrike" spc="-1" dirty="0"/>
              <a:t>variant / Effective Panel </a:t>
            </a:r>
            <a:r>
              <a:rPr lang="en-US" sz="900" spc="-1" dirty="0"/>
              <a:t>Size </a:t>
            </a:r>
            <a:r>
              <a:rPr lang="en-US" sz="900" spc="-1" dirty="0" smtClean="0"/>
              <a:t>in Millions of bases: </a:t>
            </a:r>
            <a:endParaRPr lang="en-US" sz="900" b="0" strike="noStrike" spc="-1" dirty="0" smtClean="0"/>
          </a:p>
          <a:p>
            <a:pPr>
              <a:lnSpc>
                <a:spcPct val="100000"/>
              </a:lnSpc>
            </a:pPr>
            <a:r>
              <a:rPr lang="en-US" sz="900" spc="-1" dirty="0" smtClean="0"/>
              <a:t>Report </a:t>
            </a:r>
            <a:r>
              <a:rPr lang="en-US" sz="900" spc="-1" dirty="0"/>
              <a:t>from the </a:t>
            </a:r>
            <a:r>
              <a:rPr lang="en-US" sz="900" spc="-1" dirty="0" err="1" smtClean="0"/>
              <a:t>LocalApp</a:t>
            </a:r>
            <a:r>
              <a:rPr lang="en-US" sz="900" spc="-1" dirty="0" smtClean="0"/>
              <a:t> from Illumina: TMB including synonymous </a:t>
            </a:r>
            <a:r>
              <a:rPr lang="en-US" sz="900" spc="-1" dirty="0"/>
              <a:t>(eligible variants</a:t>
            </a:r>
            <a:r>
              <a:rPr lang="en-US" sz="900" spc="-1" dirty="0" smtClean="0"/>
              <a:t>)</a:t>
            </a:r>
            <a:r>
              <a:rPr lang="nb-NO" altLang="en-US" sz="900" spc="-1" dirty="0" smtClean="0"/>
              <a:t>:</a:t>
            </a:r>
            <a:r>
              <a:rPr lang="en-US" sz="900" spc="-1" dirty="0" smtClean="0"/>
              <a:t> </a:t>
            </a:r>
            <a:endParaRPr lang="en-US" sz="900" spc="-1" dirty="0"/>
          </a:p>
        </p:txBody>
      </p:sp>
      <p:sp>
        <p:nvSpPr>
          <p:cNvPr id="71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1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2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7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88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Rectangle 73"/>
          <p:cNvSpPr/>
          <p:nvPr/>
        </p:nvSpPr>
        <p:spPr>
          <a:xfrm>
            <a:off x="1218" y="-5264"/>
            <a:ext cx="503640" cy="6731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strike="noStrike" spc="-1" dirty="0" smtClean="0">
                <a:solidFill>
                  <a:srgbClr val="FFFFFF"/>
                </a:solidFill>
                <a:latin typeface="Calibri"/>
              </a:rPr>
              <a:t>xx</a:t>
            </a:r>
            <a:endParaRPr lang="en-US" sz="18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FFFFFF"/>
                </a:solidFill>
                <a:latin typeface="Calibri"/>
              </a:rPr>
              <a:t>XXX</a:t>
            </a:r>
            <a:endParaRPr lang="en-US" sz="12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800" b="0" strike="noStrike" spc="-1" dirty="0" smtClean="0">
                <a:solidFill>
                  <a:srgbClr val="FFFFFF"/>
                </a:solidFill>
                <a:latin typeface="Calibri"/>
              </a:rPr>
              <a:t>202</a:t>
            </a:r>
            <a:r>
              <a:rPr lang="nb-NO" altLang="en-US" sz="800" b="0" strike="noStrike" spc="-1" dirty="0" smtClean="0">
                <a:solidFill>
                  <a:srgbClr val="FFFFFF"/>
                </a:solidFill>
                <a:latin typeface="Calibri"/>
              </a:rPr>
              <a:t>6</a:t>
            </a:r>
            <a:endParaRPr lang="nb-NO" altLang="en-US" sz="800" b="0" strike="noStrike" spc="-1" dirty="0" smtClean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8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26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9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0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65" name="Gruppe 64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66" name="Bilde 65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67" name="TekstSylinder 66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68" name="Bilde 67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69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74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76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93" name="TekstSylinder 92"/>
          <p:cNvSpPr txBox="1"/>
          <p:nvPr/>
        </p:nvSpPr>
        <p:spPr>
          <a:xfrm>
            <a:off x="7110000" y="4910400"/>
            <a:ext cx="202819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</a:t>
            </a:r>
            <a:r>
              <a:rPr lang="en-US" sz="800" dirty="0" smtClean="0"/>
              <a:t> Variant </a:t>
            </a:r>
            <a:r>
              <a:rPr lang="en-US" sz="800" dirty="0"/>
              <a:t>of un</a:t>
            </a:r>
            <a:r>
              <a:rPr lang="nb-NO" altLang="en-US" sz="800" dirty="0"/>
              <a:t>certain</a:t>
            </a:r>
            <a:r>
              <a:rPr lang="en-US" sz="800" dirty="0"/>
              <a:t> significance (VUS)</a:t>
            </a:r>
            <a:endParaRPr lang="nb-NO" altLang="en-US" sz="800" i="1" dirty="0" smtClean="0">
              <a:sym typeface="+mn-ea"/>
            </a:endParaRPr>
          </a:p>
        </p:txBody>
      </p:sp>
      <p:sp>
        <p:nvSpPr>
          <p:cNvPr id="94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sp>
        <p:nvSpPr>
          <p:cNvPr id="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  <p:grpSp>
        <p:nvGrpSpPr>
          <p:cNvPr id="52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53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4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5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8" name="Rectangle 45"/>
          <p:cNvSpPr/>
          <p:nvPr/>
        </p:nvSpPr>
        <p:spPr>
          <a:xfrm>
            <a:off x="1684706" y="711221"/>
            <a:ext cx="22445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SUMMARY OF KEY FINDINGS </a:t>
            </a:r>
            <a:endParaRPr lang="en-US" sz="1100" b="1" dirty="0"/>
          </a:p>
        </p:txBody>
      </p:sp>
      <p:graphicFrame>
        <p:nvGraphicFramePr>
          <p:cNvPr id="79" name="Table 4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0" y="987573"/>
          <a:ext cx="4851641" cy="32004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371118"/>
                <a:gridCol w="1261802"/>
                <a:gridCol w="324000"/>
                <a:gridCol w="707376"/>
                <a:gridCol w="851320"/>
                <a:gridCol w="519566"/>
                <a:gridCol w="816459"/>
              </a:tblGrid>
              <a:tr h="31203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SNVs/</a:t>
                      </a:r>
                      <a:endParaRPr lang="nb-NO" sz="700" b="1" dirty="0" smtClean="0"/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indels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nr</a:t>
                      </a:r>
                      <a:r>
                        <a:rPr lang="en-US" sz="700" i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of SNVs/indels</a:t>
                      </a:r>
                      <a:endParaRPr lang="en-US" sz="700" i="1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 protein coding sequence</a:t>
                      </a:r>
                      <a:endParaRPr lang="en-US" sz="700" b="1" i="0" baseline="0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1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alter protein coding sequence</a:t>
                      </a:r>
                      <a:endParaRPr lang="en-US" sz="60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1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/>
                        <a:t>Copy number variants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latin typeface="+mn-lt"/>
                          <a:ea typeface="Times New Roman" panose="02020503050405090304"/>
                        </a:rPr>
                        <a:t>Gene</a:t>
                      </a:r>
                      <a:r>
                        <a:rPr lang="en-US" sz="700" b="1" baseline="0" dirty="0" smtClean="0">
                          <a:latin typeface="+mn-lt"/>
                          <a:ea typeface="Times New Roman" panose="02020503050405090304"/>
                        </a:rPr>
                        <a:t> fusions</a:t>
                      </a:r>
                      <a:endParaRPr lang="en-US" sz="700" b="1" baseline="0" dirty="0" smtClean="0">
                        <a:latin typeface="+mn-lt"/>
                        <a:ea typeface="Times New Roman" panose="02020503050405090304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baseline="0" dirty="0" smtClean="0">
                          <a:latin typeface="+mn-lt"/>
                          <a:ea typeface="Times New Roman" panose="02020503050405090304"/>
                        </a:rPr>
                        <a:t> </a:t>
                      </a:r>
                      <a:r>
                        <a:rPr lang="en-US" sz="7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Times New Roman" panose="02020503050405090304"/>
                        </a:rPr>
                        <a:t>RNA</a:t>
                      </a:r>
                      <a:endParaRPr 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Table 49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691679" y="1462405"/>
          <a:ext cx="4845201" cy="3657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563084"/>
                <a:gridCol w="2942959"/>
                <a:gridCol w="520358"/>
                <a:gridCol w="818800"/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1000" b="0" dirty="0" smtClean="0"/>
                        <a:t>TMB</a:t>
                      </a:r>
                      <a:endParaRPr lang="en-US" sz="1000" b="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1100" b="0" dirty="0" smtClean="0">
                        <a:latin typeface="+mn-lt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nb-NO" sz="800" b="0" dirty="0" smtClean="0">
                          <a:latin typeface="+mn-lt"/>
                          <a:ea typeface="+mn-ea"/>
                        </a:rPr>
                        <a:t>status</a:t>
                      </a:r>
                      <a:endParaRPr lang="en-US" sz="800" b="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83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50"/>
          <p:cNvSpPr/>
          <p:nvPr/>
        </p:nvSpPr>
        <p:spPr>
          <a:xfrm>
            <a:off x="2483768" y="1544201"/>
            <a:ext cx="2520280" cy="72008"/>
          </a:xfrm>
          <a:prstGeom prst="rect">
            <a:avLst/>
          </a:prstGeom>
          <a:gradFill flip="none" rotWithShape="1">
            <a:gsLst>
              <a:gs pos="0">
                <a:srgbClr val="0070C0"/>
              </a:gs>
              <a:gs pos="75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53"/>
          <p:cNvCxnSpPr/>
          <p:nvPr/>
        </p:nvCxnSpPr>
        <p:spPr>
          <a:xfrm>
            <a:off x="3347864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54"/>
          <p:cNvSpPr txBox="1"/>
          <p:nvPr/>
        </p:nvSpPr>
        <p:spPr>
          <a:xfrm>
            <a:off x="2457568" y="1573456"/>
            <a:ext cx="34825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Low</a:t>
            </a:r>
            <a:endParaRPr lang="en-US" sz="600" i="1" dirty="0"/>
          </a:p>
        </p:txBody>
      </p:sp>
      <p:sp>
        <p:nvSpPr>
          <p:cNvPr id="91" name="TextBox 55"/>
          <p:cNvSpPr txBox="1"/>
          <p:nvPr/>
        </p:nvSpPr>
        <p:spPr>
          <a:xfrm>
            <a:off x="2755081" y="1575266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Intermediate</a:t>
            </a:r>
            <a:endParaRPr lang="en-US" sz="600" i="1" dirty="0"/>
          </a:p>
        </p:txBody>
      </p:sp>
      <p:sp>
        <p:nvSpPr>
          <p:cNvPr id="92" name="TextBox 56"/>
          <p:cNvSpPr txBox="1"/>
          <p:nvPr/>
        </p:nvSpPr>
        <p:spPr>
          <a:xfrm>
            <a:off x="3491880" y="1573972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High</a:t>
            </a:r>
            <a:endParaRPr lang="en-US" sz="600" i="1" dirty="0"/>
          </a:p>
        </p:txBody>
      </p:sp>
      <p:sp>
        <p:nvSpPr>
          <p:cNvPr id="116" name="TextBox 60"/>
          <p:cNvSpPr txBox="1"/>
          <p:nvPr/>
        </p:nvSpPr>
        <p:spPr>
          <a:xfrm>
            <a:off x="2669510" y="1605037"/>
            <a:ext cx="23384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5</a:t>
            </a:r>
            <a:endParaRPr lang="en-US" sz="600" b="1" i="1" dirty="0"/>
          </a:p>
        </p:txBody>
      </p:sp>
      <p:sp>
        <p:nvSpPr>
          <p:cNvPr id="122" name="TextBox 61"/>
          <p:cNvSpPr txBox="1"/>
          <p:nvPr/>
        </p:nvSpPr>
        <p:spPr>
          <a:xfrm>
            <a:off x="3207296" y="1612835"/>
            <a:ext cx="2845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20</a:t>
            </a:r>
            <a:endParaRPr lang="en-US" sz="600" b="1" i="1" dirty="0"/>
          </a:p>
        </p:txBody>
      </p:sp>
      <p:sp>
        <p:nvSpPr>
          <p:cNvPr id="131" name="Rectangle 80"/>
          <p:cNvSpPr/>
          <p:nvPr/>
        </p:nvSpPr>
        <p:spPr>
          <a:xfrm>
            <a:off x="3975800" y="1623394"/>
            <a:ext cx="118814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i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Potentially overestimated TMB*</a:t>
            </a:r>
            <a:endParaRPr lang="en-US" sz="6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2" name="TextBox 81"/>
          <p:cNvSpPr txBox="1"/>
          <p:nvPr/>
        </p:nvSpPr>
        <p:spPr>
          <a:xfrm>
            <a:off x="3901951" y="1571012"/>
            <a:ext cx="1440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C000"/>
                </a:solidFill>
              </a:rPr>
              <a:t>o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03" name="TextBox 54"/>
          <p:cNvSpPr txBox="1"/>
          <p:nvPr/>
        </p:nvSpPr>
        <p:spPr>
          <a:xfrm>
            <a:off x="2197995" y="1473248"/>
            <a:ext cx="348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 err="1" smtClean="0"/>
              <a:t>Mut</a:t>
            </a:r>
            <a:r>
              <a:rPr lang="en-US" sz="600" dirty="0" smtClean="0"/>
              <a:t>/Mb</a:t>
            </a:r>
            <a:endParaRPr lang="en-US" sz="600" dirty="0"/>
          </a:p>
        </p:txBody>
      </p:sp>
      <p:cxnSp>
        <p:nvCxnSpPr>
          <p:cNvPr id="86" name="Straight Connector 53"/>
          <p:cNvCxnSpPr/>
          <p:nvPr/>
        </p:nvCxnSpPr>
        <p:spPr>
          <a:xfrm>
            <a:off x="2771800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ectangle 63"/>
          <p:cNvSpPr/>
          <p:nvPr/>
        </p:nvSpPr>
        <p:spPr>
          <a:xfrm>
            <a:off x="1677954" y="1851670"/>
            <a:ext cx="329807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Biomarkers</a:t>
            </a:r>
            <a:endParaRPr lang="en-US" sz="1100" b="1" dirty="0"/>
          </a:p>
        </p:txBody>
      </p:sp>
      <p:graphicFrame>
        <p:nvGraphicFramePr>
          <p:cNvPr id="108" name="Table 124"/>
          <p:cNvGraphicFramePr>
            <a:graphicFrameLocks noGrp="1"/>
          </p:cNvGraphicFramePr>
          <p:nvPr/>
        </p:nvGraphicFramePr>
        <p:xfrm>
          <a:off x="1685240" y="2139702"/>
          <a:ext cx="4964553" cy="892409"/>
        </p:xfrm>
        <a:graphic>
          <a:graphicData uri="http://schemas.openxmlformats.org/drawingml/2006/table">
            <a:tbl>
              <a:tblPr/>
              <a:tblGrid>
                <a:gridCol w="449508"/>
                <a:gridCol w="541524"/>
                <a:gridCol w="93980"/>
                <a:gridCol w="486049"/>
                <a:gridCol w="432858"/>
                <a:gridCol w="449508"/>
                <a:gridCol w="587816"/>
                <a:gridCol w="539011"/>
                <a:gridCol w="518661"/>
                <a:gridCol w="465641"/>
                <a:gridCol w="399997"/>
              </a:tblGrid>
              <a:tr h="141849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Type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 hMerge="1">
                  <a:tcPr/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CN 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Pathway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function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Therapeutic context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Level of Evidence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</a:tr>
              <a:tr h="310548">
                <a:tc vMerge="1">
                  <a:tcPr/>
                </a:tc>
                <a:tc vMerge="1">
                  <a:tcPr/>
                </a:tc>
                <a:tc vMerge="1" gridSpan="2">
                  <a:tcPr/>
                </a:tc>
                <a:tc vMerge="1" h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45770" algn="l"/>
                        </a:tabLs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Sensitive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Resistant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Patient’s 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Other 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--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0994">
                <a:tc gridSpan="3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i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 classification </a:t>
                      </a:r>
                      <a:endParaRPr lang="en-US" sz="800" i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i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2" name="Table 114"/>
          <p:cNvGraphicFramePr>
            <a:graphicFrameLocks noGrp="1"/>
          </p:cNvGraphicFramePr>
          <p:nvPr/>
        </p:nvGraphicFramePr>
        <p:xfrm>
          <a:off x="1727900" y="3521053"/>
          <a:ext cx="4802541" cy="384985"/>
        </p:xfrm>
        <a:graphic>
          <a:graphicData uri="http://schemas.openxmlformats.org/drawingml/2006/table">
            <a:tbl>
              <a:tblPr/>
              <a:tblGrid>
                <a:gridCol w="452493"/>
                <a:gridCol w="556076"/>
                <a:gridCol w="626778"/>
                <a:gridCol w="3167194"/>
              </a:tblGrid>
              <a:tr h="1850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r>
                        <a:rPr lang="en-US" sz="800" b="1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Comments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199961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XXXX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dirty="0" smtClean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xxx</a:t>
                      </a: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r>
                        <a:rPr lang="en-US" sz="800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endParaRPr lang="en-US" sz="800" baseline="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3" name="Rectangle 113"/>
          <p:cNvSpPr/>
          <p:nvPr/>
        </p:nvSpPr>
        <p:spPr>
          <a:xfrm>
            <a:off x="1685239" y="3335322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Variants of potential relevance</a:t>
            </a:r>
            <a:endParaRPr lang="en-US" sz="900" b="1" dirty="0"/>
          </a:p>
        </p:txBody>
      </p:sp>
      <p:sp>
        <p:nvSpPr>
          <p:cNvPr id="71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1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2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7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88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9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0" name="Rectangle 73"/>
          <p:cNvSpPr/>
          <p:nvPr/>
        </p:nvSpPr>
        <p:spPr>
          <a:xfrm>
            <a:off x="1218" y="-5264"/>
            <a:ext cx="503640" cy="6731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strike="noStrike" spc="-1" dirty="0" smtClean="0">
                <a:solidFill>
                  <a:srgbClr val="FFFFFF"/>
                </a:solidFill>
                <a:latin typeface="Calibri"/>
              </a:rPr>
              <a:t>xx</a:t>
            </a:r>
            <a:endParaRPr lang="en-US" sz="18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FFFFFF"/>
                </a:solidFill>
                <a:latin typeface="Calibri"/>
              </a:rPr>
              <a:t>XXX</a:t>
            </a:r>
            <a:endParaRPr lang="en-US" sz="12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800" b="0" strike="noStrike" spc="-1" dirty="0" smtClean="0">
                <a:solidFill>
                  <a:srgbClr val="FFFFFF"/>
                </a:solidFill>
                <a:latin typeface="Calibri"/>
              </a:rPr>
              <a:t>202</a:t>
            </a:r>
            <a:r>
              <a:rPr lang="nb-NO" altLang="en-US" sz="800" b="0" strike="noStrike" spc="-1" dirty="0" smtClean="0">
                <a:solidFill>
                  <a:srgbClr val="FFFFFF"/>
                </a:solidFill>
                <a:latin typeface="Calibri"/>
              </a:rPr>
              <a:t>6</a:t>
            </a:r>
            <a:endParaRPr lang="nb-NO" altLang="en-US" sz="800" b="0" strike="noStrike" spc="-1" dirty="0" smtClean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1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33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1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2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67" name="Gruppe 66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68" name="Bilde 67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69" name="TekstSylinder 68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70" name="Bilde 69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73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74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76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9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  <p:sp>
        <p:nvSpPr>
          <p:cNvPr id="94" name="TekstSylinder 93"/>
          <p:cNvSpPr txBox="1"/>
          <p:nvPr/>
        </p:nvSpPr>
        <p:spPr>
          <a:xfrm>
            <a:off x="7110000" y="4910400"/>
            <a:ext cx="202819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</a:t>
            </a:r>
            <a:r>
              <a:rPr lang="en-US" sz="800" dirty="0" smtClean="0"/>
              <a:t> Variant </a:t>
            </a:r>
            <a:r>
              <a:rPr lang="en-US" sz="800" dirty="0"/>
              <a:t>of un</a:t>
            </a:r>
            <a:r>
              <a:rPr lang="nb-NO" altLang="en-US" sz="800" dirty="0"/>
              <a:t>certain</a:t>
            </a:r>
            <a:r>
              <a:rPr lang="en-US" sz="800" dirty="0"/>
              <a:t> significance (VUS)</a:t>
            </a:r>
            <a:endParaRPr lang="nb-NO" altLang="en-US" sz="800" i="1" dirty="0" smtClean="0">
              <a:sym typeface="+mn-ea"/>
            </a:endParaRPr>
          </a:p>
        </p:txBody>
      </p:sp>
      <p:sp>
        <p:nvSpPr>
          <p:cNvPr id="95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grpSp>
        <p:nvGrpSpPr>
          <p:cNvPr id="53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54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5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63"/>
          <p:cNvSpPr/>
          <p:nvPr/>
        </p:nvSpPr>
        <p:spPr>
          <a:xfrm>
            <a:off x="1677954" y="1050447"/>
            <a:ext cx="329807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Biomarkers and variant/gene-drug association</a:t>
            </a:r>
            <a:endParaRPr lang="en-US" sz="1100" b="1" dirty="0"/>
          </a:p>
        </p:txBody>
      </p:sp>
      <p:graphicFrame>
        <p:nvGraphicFramePr>
          <p:cNvPr id="44" name="Table 74"/>
          <p:cNvGraphicFramePr>
            <a:graphicFrameLocks noGrp="1"/>
          </p:cNvGraphicFramePr>
          <p:nvPr/>
        </p:nvGraphicFramePr>
        <p:xfrm>
          <a:off x="1687796" y="1295415"/>
          <a:ext cx="2625876" cy="293752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1545756"/>
                <a:gridCol w="1080120"/>
              </a:tblGrid>
              <a:tr h="29375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800" b="1" dirty="0" smtClean="0"/>
                        <a:t>Biomarkers potentially</a:t>
                      </a:r>
                      <a:r>
                        <a:rPr lang="nb-NO" sz="800" b="1" baseline="0" dirty="0" smtClean="0"/>
                        <a:t> relevant for immune therapy</a:t>
                      </a:r>
                      <a:endParaRPr lang="en-US" sz="8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dirty="0" smtClean="0">
                          <a:latin typeface="+mn-lt"/>
                          <a:ea typeface="Times New Roman" panose="02020503050405090304"/>
                        </a:rPr>
                        <a:t>None reported</a:t>
                      </a:r>
                      <a:endParaRPr lang="en-US" sz="800" dirty="0" smtClean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24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1" y="1655027"/>
          <a:ext cx="4876216" cy="916723"/>
        </p:xfrm>
        <a:graphic>
          <a:graphicData uri="http://schemas.openxmlformats.org/drawingml/2006/table">
            <a:tbl>
              <a:tblPr/>
              <a:tblGrid>
                <a:gridCol w="451785"/>
                <a:gridCol w="486537"/>
                <a:gridCol w="527212"/>
                <a:gridCol w="435051"/>
                <a:gridCol w="451785"/>
                <a:gridCol w="590794"/>
                <a:gridCol w="541741"/>
                <a:gridCol w="521288"/>
                <a:gridCol w="468000"/>
                <a:gridCol w="402023"/>
              </a:tblGrid>
              <a:tr h="141849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Type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CN 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Pathway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function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Therapeutic context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Level of Evidence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</a:tr>
              <a:tr h="31054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45770" algn="l"/>
                        </a:tabLs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Sensitive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Resistant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Patient’s 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Other 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--</a:t>
                      </a:r>
                      <a:endParaRPr lang="en-US" sz="12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0994"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i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 classification </a:t>
                      </a:r>
                      <a:endParaRPr lang="en-US" sz="800" i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aseline="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8" name="Rectangle 39"/>
          <p:cNvSpPr/>
          <p:nvPr/>
        </p:nvSpPr>
        <p:spPr>
          <a:xfrm>
            <a:off x="8233900" y="90679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92" name="Rectangle 69"/>
          <p:cNvSpPr/>
          <p:nvPr/>
        </p:nvSpPr>
        <p:spPr>
          <a:xfrm>
            <a:off x="8267241" y="90679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2" name="Rectangle 113"/>
          <p:cNvSpPr/>
          <p:nvPr/>
        </p:nvSpPr>
        <p:spPr>
          <a:xfrm>
            <a:off x="1706184" y="3331375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Copy number variant </a:t>
            </a:r>
            <a:endParaRPr lang="en-US" sz="900" b="1" dirty="0"/>
          </a:p>
        </p:txBody>
      </p:sp>
      <p:sp>
        <p:nvSpPr>
          <p:cNvPr id="65" name="TekstSylinder 64"/>
          <p:cNvSpPr txBox="1"/>
          <p:nvPr/>
        </p:nvSpPr>
        <p:spPr>
          <a:xfrm>
            <a:off x="6908202" y="2886808"/>
            <a:ext cx="2091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solidFill>
                  <a:srgbClr val="00B0F0"/>
                </a:solidFill>
              </a:rPr>
              <a:t>¤</a:t>
            </a:r>
            <a:r>
              <a:rPr lang="en-US" sz="800" i="1" dirty="0"/>
              <a:t> : F</a:t>
            </a:r>
            <a:r>
              <a:rPr lang="en-US" sz="800" i="1" dirty="0" smtClean="0"/>
              <a:t>ollowing ESMO guidelines, recommendation for germline testing is borderline with respect to age/tumor type. Treating oncologist may consider discussing this with patient and offer referral to genetic counseling. </a:t>
            </a:r>
            <a:endParaRPr lang="en-US" sz="800" i="1" dirty="0"/>
          </a:p>
        </p:txBody>
      </p:sp>
      <p:sp>
        <p:nvSpPr>
          <p:cNvPr id="69" name="TekstSylinder 68"/>
          <p:cNvSpPr txBox="1"/>
          <p:nvPr/>
        </p:nvSpPr>
        <p:spPr>
          <a:xfrm>
            <a:off x="6878980" y="2382866"/>
            <a:ext cx="1966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 smtClean="0"/>
              <a:t>According to ESMO guidelines, recommendation for genetic counseling does not apply for the variants reported</a:t>
            </a:r>
            <a:endParaRPr lang="en-US" sz="800" i="1" dirty="0"/>
          </a:p>
        </p:txBody>
      </p:sp>
      <p:sp>
        <p:nvSpPr>
          <p:cNvPr id="18" name="Rectangle 70"/>
          <p:cNvSpPr/>
          <p:nvPr/>
        </p:nvSpPr>
        <p:spPr>
          <a:xfrm>
            <a:off x="8077940" y="4443958"/>
            <a:ext cx="922047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" dirty="0" smtClean="0">
                <a:solidFill>
                  <a:srgbClr val="000000"/>
                </a:solidFill>
                <a:ea typeface="Calibri"/>
                <a:cs typeface="Times New Roman" panose="02020503050405090304"/>
              </a:rPr>
              <a:t>Mutation hotspot</a:t>
            </a:r>
            <a:endParaRPr lang="en-US" sz="800" dirty="0"/>
          </a:p>
        </p:txBody>
      </p:sp>
      <p:sp>
        <p:nvSpPr>
          <p:cNvPr id="19" name="Rounded Rectangle 67"/>
          <p:cNvSpPr/>
          <p:nvPr/>
        </p:nvSpPr>
        <p:spPr>
          <a:xfrm>
            <a:off x="7717940" y="4492431"/>
            <a:ext cx="360000" cy="11849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ktangel 19"/>
          <p:cNvSpPr/>
          <p:nvPr/>
        </p:nvSpPr>
        <p:spPr>
          <a:xfrm>
            <a:off x="7614444" y="4621783"/>
            <a:ext cx="70083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" dirty="0" smtClean="0"/>
              <a:t>*</a:t>
            </a:r>
            <a:r>
              <a:rPr lang="en-US" sz="800" dirty="0" err="1" smtClean="0"/>
              <a:t>OncoKB</a:t>
            </a:r>
            <a:endParaRPr lang="en-US" sz="800" dirty="0" smtClean="0"/>
          </a:p>
          <a:p>
            <a:r>
              <a:rPr lang="en-US" sz="800" dirty="0" smtClean="0"/>
              <a:t>**PMID:XX</a:t>
            </a:r>
            <a:endParaRPr lang="en-US" sz="800" dirty="0" smtClean="0"/>
          </a:p>
          <a:p>
            <a:r>
              <a:rPr lang="en-US" sz="800" dirty="0" smtClean="0"/>
              <a:t>***PMID:XX</a:t>
            </a:r>
            <a:endParaRPr lang="nb-NO" dirty="0"/>
          </a:p>
        </p:txBody>
      </p:sp>
      <p:sp>
        <p:nvSpPr>
          <p:cNvPr id="23" name="Tittel 1"/>
          <p:cNvSpPr txBox="1"/>
          <p:nvPr/>
        </p:nvSpPr>
        <p:spPr>
          <a:xfrm>
            <a:off x="66387" y="147982"/>
            <a:ext cx="1449000" cy="2351760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500" b="1" dirty="0" smtClean="0"/>
              <a:t>Standard templates for text and tables in the report:</a:t>
            </a:r>
            <a:endParaRPr lang="en-US" sz="1500" b="1" dirty="0"/>
          </a:p>
        </p:txBody>
      </p:sp>
      <p:sp>
        <p:nvSpPr>
          <p:cNvPr id="28" name="Rectangle 113"/>
          <p:cNvSpPr/>
          <p:nvPr/>
        </p:nvSpPr>
        <p:spPr>
          <a:xfrm>
            <a:off x="1702168" y="3497139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Variants of unknown significance in treatment relevant genes</a:t>
            </a:r>
            <a:endParaRPr lang="en-US" sz="900" b="1" dirty="0"/>
          </a:p>
        </p:txBody>
      </p:sp>
      <p:graphicFrame>
        <p:nvGraphicFramePr>
          <p:cNvPr id="29" name="Table 114"/>
          <p:cNvGraphicFramePr>
            <a:graphicFrameLocks noGrp="1"/>
          </p:cNvGraphicFramePr>
          <p:nvPr/>
        </p:nvGraphicFramePr>
        <p:xfrm>
          <a:off x="1795169" y="2801548"/>
          <a:ext cx="4771282" cy="428864"/>
        </p:xfrm>
        <a:graphic>
          <a:graphicData uri="http://schemas.openxmlformats.org/drawingml/2006/table">
            <a:tbl>
              <a:tblPr/>
              <a:tblGrid>
                <a:gridCol w="449547"/>
                <a:gridCol w="552457"/>
                <a:gridCol w="622699"/>
                <a:gridCol w="3146579"/>
              </a:tblGrid>
              <a:tr h="1850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r>
                        <a:rPr lang="en-US" sz="800" b="1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Comments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19996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dirty="0" smtClean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</a:t>
                      </a: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r>
                        <a:rPr lang="en-US" sz="800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endParaRPr lang="en-US" sz="800" baseline="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Unknown</a:t>
                      </a:r>
                      <a:endParaRPr lang="en-US" sz="800" baseline="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Rectangle 113"/>
          <p:cNvSpPr/>
          <p:nvPr/>
        </p:nvSpPr>
        <p:spPr>
          <a:xfrm>
            <a:off x="1752509" y="2615817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Variants of </a:t>
            </a:r>
            <a:r>
              <a:rPr lang="en-US" sz="900" b="1" dirty="0"/>
              <a:t>potential biological and diagnostic </a:t>
            </a:r>
            <a:r>
              <a:rPr lang="en-US" sz="900" b="1" dirty="0" smtClean="0"/>
              <a:t>relevance</a:t>
            </a:r>
            <a:endParaRPr lang="en-US" sz="900" b="1" dirty="0"/>
          </a:p>
        </p:txBody>
      </p:sp>
      <p:graphicFrame>
        <p:nvGraphicFramePr>
          <p:cNvPr id="31" name="Tabell 30"/>
          <p:cNvGraphicFramePr>
            <a:graphicFrameLocks noGrp="1"/>
          </p:cNvGraphicFramePr>
          <p:nvPr/>
        </p:nvGraphicFramePr>
        <p:xfrm>
          <a:off x="5407643" y="808516"/>
          <a:ext cx="3645133" cy="5969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54652"/>
                <a:gridCol w="818643"/>
                <a:gridCol w="716312"/>
                <a:gridCol w="613982"/>
                <a:gridCol w="741544"/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>
                          <a:effectLst/>
                        </a:rPr>
                        <a:t>Gene1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>
                          <a:effectLst/>
                        </a:rPr>
                        <a:t>Gene2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 err="1">
                          <a:effectLst/>
                        </a:rPr>
                        <a:t>PairedAlt</a:t>
                      </a:r>
                      <a:r>
                        <a:rPr lang="nb-NO" sz="700" kern="1200" dirty="0">
                          <a:effectLst/>
                        </a:rPr>
                        <a:t>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 err="1">
                          <a:effectLst/>
                        </a:rPr>
                        <a:t>SplitAlt</a:t>
                      </a:r>
                      <a:r>
                        <a:rPr lang="nb-NO" sz="700" kern="1200" dirty="0">
                          <a:effectLst/>
                        </a:rPr>
                        <a:t>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 smtClean="0">
                          <a:effectLst/>
                        </a:rPr>
                        <a:t>Support</a:t>
                      </a:r>
                      <a:r>
                        <a:rPr lang="nb-NO" sz="700" kern="1200" baseline="0" dirty="0" smtClean="0">
                          <a:effectLst/>
                        </a:rPr>
                        <a:t> %</a:t>
                      </a:r>
                      <a:r>
                        <a:rPr lang="nb-NO" sz="700" kern="1200" dirty="0" smtClean="0">
                          <a:effectLst/>
                        </a:rPr>
                        <a:t>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AA</a:t>
                      </a:r>
                      <a:endParaRPr lang="en-US" sz="800" b="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800" b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exonX</a:t>
                      </a: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800" b="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Chr</a:t>
                      </a: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Y</a:t>
                      </a:r>
                      <a:endParaRPr lang="nb-NO" sz="8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kern="120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BB</a:t>
                      </a:r>
                      <a:endParaRPr lang="nb-NO" sz="800" b="0" kern="1200" dirty="0" smtClean="0"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nb-NO" sz="800" b="0" kern="120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nb-NO" sz="800" b="0" kern="1200" dirty="0" err="1" smtClean="0">
                          <a:effectLst/>
                          <a:latin typeface="+mn-lt"/>
                          <a:ea typeface="+mn-ea"/>
                          <a:cs typeface="+mn-cs"/>
                        </a:rPr>
                        <a:t>exonX</a:t>
                      </a:r>
                      <a:r>
                        <a:rPr lang="nb-NO" sz="800" b="0" kern="120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nb-NO" sz="800" b="0" kern="1200" dirty="0" smtClean="0"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kern="1200" dirty="0" err="1" smtClean="0">
                          <a:effectLst/>
                          <a:latin typeface="+mn-lt"/>
                          <a:ea typeface="+mn-ea"/>
                          <a:cs typeface="+mn-cs"/>
                        </a:rPr>
                        <a:t>Chr</a:t>
                      </a:r>
                      <a:r>
                        <a:rPr lang="en-US" sz="800" b="0" kern="1200" baseline="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 Y</a:t>
                      </a: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503050405090304" pitchFamily="18" charset="0"/>
                        </a:rPr>
                        <a:t>x%</a:t>
                      </a: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2" name="Rectangle 70"/>
          <p:cNvSpPr/>
          <p:nvPr/>
        </p:nvSpPr>
        <p:spPr>
          <a:xfrm>
            <a:off x="8160900" y="587645"/>
            <a:ext cx="925253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" dirty="0" smtClean="0">
                <a:solidFill>
                  <a:srgbClr val="000000"/>
                </a:solidFill>
                <a:ea typeface="Calibri"/>
                <a:cs typeface="Times New Roman" panose="02020503050405090304"/>
              </a:rPr>
              <a:t>Reported fusions:</a:t>
            </a:r>
            <a:endParaRPr lang="en-US" sz="800" dirty="0"/>
          </a:p>
        </p:txBody>
      </p:sp>
      <p:sp>
        <p:nvSpPr>
          <p:cNvPr id="36" name="TekstSylinder 35"/>
          <p:cNvSpPr txBox="1"/>
          <p:nvPr/>
        </p:nvSpPr>
        <p:spPr>
          <a:xfrm>
            <a:off x="6881450" y="1878925"/>
            <a:ext cx="1966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solidFill>
                  <a:srgbClr val="00B0F0"/>
                </a:solidFill>
              </a:rPr>
              <a:t>¤</a:t>
            </a:r>
            <a:r>
              <a:rPr lang="en-US" sz="800" i="1" dirty="0"/>
              <a:t> : According to ESMO guidelines, genetic counseling is recommended for the reported XX variant.</a:t>
            </a:r>
            <a:endParaRPr lang="en-US" sz="800" i="1" dirty="0"/>
          </a:p>
        </p:txBody>
      </p:sp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" name="Gruppe 44"/>
          <p:cNvGrpSpPr/>
          <p:nvPr/>
        </p:nvGrpSpPr>
        <p:grpSpPr>
          <a:xfrm>
            <a:off x="90245" y="1166143"/>
            <a:ext cx="1538182" cy="829543"/>
            <a:chOff x="130104" y="3181320"/>
            <a:chExt cx="1539251" cy="829543"/>
          </a:xfrm>
        </p:grpSpPr>
        <p:sp>
          <p:nvSpPr>
            <p:cNvPr id="3" name="Rectangle 51"/>
            <p:cNvSpPr/>
            <p:nvPr/>
          </p:nvSpPr>
          <p:spPr>
            <a:xfrm>
              <a:off x="181748" y="3197122"/>
              <a:ext cx="1368951" cy="647280"/>
            </a:xfrm>
            <a:prstGeom prst="rect">
              <a:avLst/>
            </a:prstGeom>
            <a:solidFill>
              <a:schemeClr val="bg1"/>
            </a:solidFill>
            <a:ln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" name="Rectangle 67"/>
            <p:cNvSpPr/>
            <p:nvPr/>
          </p:nvSpPr>
          <p:spPr>
            <a:xfrm>
              <a:off x="183687" y="3196887"/>
              <a:ext cx="395640" cy="6480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6350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" name="TextBox 52"/>
            <p:cNvSpPr/>
            <p:nvPr/>
          </p:nvSpPr>
          <p:spPr>
            <a:xfrm>
              <a:off x="130104" y="3232588"/>
              <a:ext cx="659880" cy="575627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/>
          </p:style>
          <p:txBody>
            <a:bodyPr lIns="90000" tIns="45000" rIns="90000" bIns="4500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50" spc="-1" dirty="0">
                  <a:solidFill>
                    <a:schemeClr val="bg1"/>
                  </a:solidFill>
                </a:rPr>
                <a:t>F1 Liquid CD</a:t>
              </a:r>
              <a:r>
                <a:rPr lang="en-US" sz="1050" b="1" spc="-1" dirty="0">
                  <a:solidFill>
                    <a:schemeClr val="bg1"/>
                  </a:solidFill>
                </a:rPr>
                <a:t>x </a:t>
              </a:r>
              <a:endParaRPr lang="en-US" sz="1050" spc="-1" dirty="0">
                <a:solidFill>
                  <a:schemeClr val="bg1"/>
                </a:solidFill>
                <a:latin typeface="Arial" panose="020B0604020202090204"/>
              </a:endParaRPr>
            </a:p>
          </p:txBody>
        </p:sp>
        <p:sp>
          <p:nvSpPr>
            <p:cNvPr id="6" name="TextBox 55"/>
            <p:cNvSpPr/>
            <p:nvPr/>
          </p:nvSpPr>
          <p:spPr>
            <a:xfrm>
              <a:off x="490604" y="3181320"/>
              <a:ext cx="1178751" cy="8295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/>
          </p:style>
          <p:txBody>
            <a:bodyPr wrap="square" lIns="90000" tIns="45000" rIns="90000" bIns="4500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strike="noStrike" spc="-1" dirty="0" smtClean="0">
                  <a:solidFill>
                    <a:srgbClr val="000000"/>
                  </a:solidFill>
                  <a:latin typeface="Calibri"/>
                </a:rPr>
                <a:t> Gene Alterations</a:t>
              </a:r>
              <a:endParaRPr lang="en-US" sz="1000" b="0" strike="noStrike" spc="-1" dirty="0" smtClean="0">
                <a:solidFill>
                  <a:srgbClr val="000000"/>
                </a:solidFill>
                <a:latin typeface="Calibri"/>
              </a:endParaRPr>
            </a:p>
            <a:p>
              <a:r>
                <a:rPr lang="en-US" sz="700" spc="-1" dirty="0" smtClean="0">
                  <a:solidFill>
                    <a:srgbClr val="000000"/>
                  </a:solidFill>
                </a:rPr>
                <a:t> Any overlap TSO500:  </a:t>
              </a:r>
              <a:endParaRPr lang="en-US" sz="700" spc="-1" dirty="0" smtClean="0">
                <a:solidFill>
                  <a:srgbClr val="000000"/>
                </a:solidFill>
              </a:endParaRPr>
            </a:p>
            <a:p>
              <a:r>
                <a:rPr lang="en-US" sz="700" spc="-1" dirty="0" smtClean="0"/>
                <a:t> Add. biomarkers: </a:t>
              </a:r>
              <a:endParaRPr lang="en-US" sz="700" spc="-1" dirty="0" smtClean="0"/>
            </a:p>
            <a:p>
              <a:r>
                <a:rPr lang="en-US" sz="600" i="1" spc="-1" dirty="0" smtClean="0"/>
                <a:t>  </a:t>
              </a:r>
              <a:endParaRPr lang="en-US" sz="600" i="1" spc="-1" dirty="0"/>
            </a:p>
            <a:p>
              <a:endParaRPr lang="en-US" sz="800" spc="-1" dirty="0">
                <a:latin typeface="Arial" panose="020B0604020202090204"/>
              </a:endParaRPr>
            </a:p>
            <a:p>
              <a:pPr>
                <a:lnSpc>
                  <a:spcPct val="100000"/>
                </a:lnSpc>
              </a:pPr>
              <a:endParaRPr lang="en-US" sz="1000" b="0" strike="noStrike" spc="-1" dirty="0">
                <a:latin typeface="Arial" panose="020B0604020202090204"/>
              </a:endParaRPr>
            </a:p>
          </p:txBody>
        </p:sp>
      </p:grpSp>
      <p:grpSp>
        <p:nvGrpSpPr>
          <p:cNvPr id="39" name="Gruppe 38"/>
          <p:cNvGrpSpPr/>
          <p:nvPr/>
        </p:nvGrpSpPr>
        <p:grpSpPr>
          <a:xfrm>
            <a:off x="65057" y="2231888"/>
            <a:ext cx="1687452" cy="715457"/>
            <a:chOff x="140644" y="3135196"/>
            <a:chExt cx="1688625" cy="715457"/>
          </a:xfrm>
        </p:grpSpPr>
        <p:sp>
          <p:nvSpPr>
            <p:cNvPr id="40" name="Rectangle 51"/>
            <p:cNvSpPr/>
            <p:nvPr/>
          </p:nvSpPr>
          <p:spPr>
            <a:xfrm>
              <a:off x="183687" y="3144986"/>
              <a:ext cx="1368951" cy="647280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noFill/>
              <a:prstDash val="solid"/>
              <a:round/>
            </a:ln>
            <a:effectLst/>
          </p:spPr>
        </p:sp>
        <p:sp>
          <p:nvSpPr>
            <p:cNvPr id="41" name="Rectangle 67"/>
            <p:cNvSpPr/>
            <p:nvPr/>
          </p:nvSpPr>
          <p:spPr>
            <a:xfrm>
              <a:off x="183687" y="3135196"/>
              <a:ext cx="490212" cy="657069"/>
            </a:xfrm>
            <a:prstGeom prst="rect">
              <a:avLst/>
            </a:prstGeom>
            <a:solidFill>
              <a:srgbClr val="1F497D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round/>
            </a:ln>
            <a:effectLst/>
          </p:spPr>
        </p:sp>
        <p:sp>
          <p:nvSpPr>
            <p:cNvPr id="42" name="TextBox 52"/>
            <p:cNvSpPr/>
            <p:nvPr/>
          </p:nvSpPr>
          <p:spPr>
            <a:xfrm>
              <a:off x="140644" y="3267332"/>
              <a:ext cx="659880" cy="367878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9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TSO500 </a:t>
              </a:r>
              <a:r>
                <a:rPr kumimoji="0" lang="en-US" sz="900" b="0" i="0" u="none" strike="noStrike" kern="0" cap="none" spc="-1" normalizeH="0" baseline="0" noProof="0" dirty="0" err="1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ctDNA</a:t>
              </a:r>
              <a:endParaRPr kumimoji="0" lang="en-US" sz="900" b="0" i="0" u="none" strike="noStrike" kern="0" cap="none" spc="-1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  <p:sp>
          <p:nvSpPr>
            <p:cNvPr id="50" name="TextBox 55"/>
            <p:cNvSpPr/>
            <p:nvPr/>
          </p:nvSpPr>
          <p:spPr>
            <a:xfrm>
              <a:off x="650518" y="3267332"/>
              <a:ext cx="1178751" cy="58332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800" b="0" i="1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Tumor DNA not represented  </a:t>
              </a:r>
              <a:endParaRPr kumimoji="0" lang="en-US" sz="800" b="0" i="1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</p:grpSp>
      <p:grpSp>
        <p:nvGrpSpPr>
          <p:cNvPr id="52" name="Gruppe 51"/>
          <p:cNvGrpSpPr/>
          <p:nvPr/>
        </p:nvGrpSpPr>
        <p:grpSpPr>
          <a:xfrm>
            <a:off x="65057" y="3285814"/>
            <a:ext cx="1641127" cy="942120"/>
            <a:chOff x="140644" y="3135196"/>
            <a:chExt cx="1642268" cy="942120"/>
          </a:xfrm>
        </p:grpSpPr>
        <p:sp>
          <p:nvSpPr>
            <p:cNvPr id="53" name="Rectangle 51"/>
            <p:cNvSpPr/>
            <p:nvPr/>
          </p:nvSpPr>
          <p:spPr>
            <a:xfrm>
              <a:off x="183687" y="3144986"/>
              <a:ext cx="1368951" cy="647280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noFill/>
              <a:prstDash val="solid"/>
              <a:round/>
            </a:ln>
            <a:effectLst/>
          </p:spPr>
        </p:sp>
        <p:sp>
          <p:nvSpPr>
            <p:cNvPr id="54" name="Rectangle 67"/>
            <p:cNvSpPr/>
            <p:nvPr/>
          </p:nvSpPr>
          <p:spPr>
            <a:xfrm>
              <a:off x="183687" y="3135196"/>
              <a:ext cx="490212" cy="657069"/>
            </a:xfrm>
            <a:prstGeom prst="rect">
              <a:avLst/>
            </a:prstGeom>
            <a:solidFill>
              <a:srgbClr val="1F497D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round/>
            </a:ln>
            <a:effectLst/>
          </p:spPr>
        </p:sp>
        <p:sp>
          <p:nvSpPr>
            <p:cNvPr id="55" name="TextBox 52"/>
            <p:cNvSpPr/>
            <p:nvPr/>
          </p:nvSpPr>
          <p:spPr>
            <a:xfrm>
              <a:off x="140644" y="3267332"/>
              <a:ext cx="659880" cy="367878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9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TSO500 </a:t>
              </a:r>
              <a:r>
                <a:rPr kumimoji="0" lang="en-US" sz="900" b="0" i="0" u="none" strike="noStrike" kern="0" cap="none" spc="-1" normalizeH="0" baseline="0" noProof="0" dirty="0" err="1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ctDNA</a:t>
              </a:r>
              <a:endParaRPr kumimoji="0" lang="en-US" sz="900" b="0" i="0" u="none" strike="noStrike" kern="0" cap="none" spc="-1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  <p:sp>
          <p:nvSpPr>
            <p:cNvPr id="56" name="TextBox 55"/>
            <p:cNvSpPr/>
            <p:nvPr/>
          </p:nvSpPr>
          <p:spPr>
            <a:xfrm>
              <a:off x="604161" y="3140052"/>
              <a:ext cx="1178751" cy="937264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000" b="0" i="0" u="none" strike="noStrike" kern="0" cap="none" spc="-1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Somatic variants</a:t>
              </a:r>
              <a:endParaRPr kumimoji="0" lang="en-US" sz="10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Overlap with </a:t>
              </a:r>
              <a:endParaRPr lang="en-US" sz="700" kern="0" spc="-1" dirty="0" smtClean="0">
                <a:solidFill>
                  <a:srgbClr val="000000"/>
                </a:solidFill>
                <a:latin typeface="Calibri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TSO500 HT: YES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7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Add. biomarkers: NO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600" b="0" i="1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 </a:t>
              </a:r>
              <a:endParaRPr kumimoji="0" lang="en-US" sz="600" b="0" i="1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0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</p:grpSp>
      <p:grpSp>
        <p:nvGrpSpPr>
          <p:cNvPr id="57" name="Gruppe 56"/>
          <p:cNvGrpSpPr/>
          <p:nvPr/>
        </p:nvGrpSpPr>
        <p:grpSpPr>
          <a:xfrm>
            <a:off x="72510" y="4402228"/>
            <a:ext cx="1641127" cy="1049842"/>
            <a:chOff x="140644" y="3135196"/>
            <a:chExt cx="1642268" cy="1049842"/>
          </a:xfrm>
        </p:grpSpPr>
        <p:sp>
          <p:nvSpPr>
            <p:cNvPr id="58" name="Rectangle 51"/>
            <p:cNvSpPr/>
            <p:nvPr/>
          </p:nvSpPr>
          <p:spPr>
            <a:xfrm>
              <a:off x="183687" y="3144986"/>
              <a:ext cx="1368951" cy="647280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noFill/>
              <a:prstDash val="solid"/>
              <a:round/>
            </a:ln>
            <a:effectLst/>
          </p:spPr>
        </p:sp>
        <p:sp>
          <p:nvSpPr>
            <p:cNvPr id="61" name="Rectangle 67"/>
            <p:cNvSpPr/>
            <p:nvPr/>
          </p:nvSpPr>
          <p:spPr>
            <a:xfrm>
              <a:off x="183687" y="3135196"/>
              <a:ext cx="490212" cy="657069"/>
            </a:xfrm>
            <a:prstGeom prst="rect">
              <a:avLst/>
            </a:prstGeom>
            <a:solidFill>
              <a:srgbClr val="1F497D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round/>
            </a:ln>
            <a:effectLst/>
          </p:spPr>
        </p:sp>
        <p:sp>
          <p:nvSpPr>
            <p:cNvPr id="64" name="TextBox 52"/>
            <p:cNvSpPr/>
            <p:nvPr/>
          </p:nvSpPr>
          <p:spPr>
            <a:xfrm>
              <a:off x="140644" y="3267332"/>
              <a:ext cx="659880" cy="367878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9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TSO500 </a:t>
              </a:r>
              <a:r>
                <a:rPr kumimoji="0" lang="en-US" sz="900" b="0" i="0" u="none" strike="noStrike" kern="0" cap="none" spc="-1" normalizeH="0" baseline="0" noProof="0" dirty="0" err="1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ctDNA</a:t>
              </a:r>
              <a:endParaRPr kumimoji="0" lang="en-US" sz="900" b="0" i="0" u="none" strike="noStrike" kern="0" cap="none" spc="-1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  <p:sp>
          <p:nvSpPr>
            <p:cNvPr id="66" name="TextBox 55"/>
            <p:cNvSpPr/>
            <p:nvPr/>
          </p:nvSpPr>
          <p:spPr>
            <a:xfrm>
              <a:off x="604161" y="3140052"/>
              <a:ext cx="1178751" cy="1044986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000" b="0" i="0" u="none" strike="noStrike" kern="0" cap="none" spc="-1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Somatic variants</a:t>
              </a:r>
              <a:endParaRPr kumimoji="0" lang="en-US" sz="10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Overlap with </a:t>
              </a:r>
              <a:endParaRPr lang="en-US" sz="700" kern="0" spc="-1" dirty="0" smtClean="0">
                <a:solidFill>
                  <a:srgbClr val="000000"/>
                </a:solidFill>
                <a:latin typeface="Calibri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TSO500 HT: YES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7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Add. biomarkers: </a:t>
              </a:r>
              <a:r>
                <a:rPr lang="en-US" sz="700" kern="0" spc="-1" dirty="0" smtClean="0">
                  <a:solidFill>
                    <a:prstClr val="black"/>
                  </a:solidFill>
                  <a:latin typeface="Calibri"/>
                </a:rPr>
                <a:t>YES</a:t>
              </a:r>
              <a:endParaRPr lang="en-US" sz="700" kern="0" spc="-1" dirty="0" smtClean="0">
                <a:solidFill>
                  <a:prstClr val="black"/>
                </a:solidFill>
                <a:latin typeface="Calibri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prstClr val="black"/>
                  </a:solidFill>
                  <a:latin typeface="Calibri"/>
                </a:rPr>
                <a:t>(See comments)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600" b="0" i="1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 </a:t>
              </a:r>
              <a:endParaRPr kumimoji="0" lang="en-US" sz="600" b="0" i="1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0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</p:grpSp>
      <p:sp>
        <p:nvSpPr>
          <p:cNvPr id="45" name="TekstSylinder 44"/>
          <p:cNvSpPr txBox="1"/>
          <p:nvPr/>
        </p:nvSpPr>
        <p:spPr>
          <a:xfrm>
            <a:off x="6878980" y="3870656"/>
            <a:ext cx="23731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 Variant of unknown significance (VUS)</a:t>
            </a:r>
            <a:endParaRPr lang="en-US" sz="800" dirty="0"/>
          </a:p>
          <a:p>
            <a:r>
              <a:rPr lang="en-US" sz="800" dirty="0">
                <a:solidFill>
                  <a:schemeClr val="tx1"/>
                </a:solidFill>
              </a:rPr>
              <a:t>&amp; Variants previously reported (in Myeloid panels)</a:t>
            </a:r>
            <a:endParaRPr lang="en-US" sz="800" dirty="0">
              <a:solidFill>
                <a:schemeClr val="tx1"/>
              </a:solidFill>
            </a:endParaRPr>
          </a:p>
        </p:txBody>
      </p:sp>
      <p:graphicFrame>
        <p:nvGraphicFramePr>
          <p:cNvPr id="46" name="Table 124"/>
          <p:cNvGraphicFramePr>
            <a:graphicFrameLocks noGrp="1"/>
          </p:cNvGraphicFramePr>
          <p:nvPr/>
        </p:nvGraphicFramePr>
        <p:xfrm>
          <a:off x="1728232" y="3997902"/>
          <a:ext cx="4932000" cy="1094128"/>
        </p:xfrm>
        <a:graphic>
          <a:graphicData uri="http://schemas.openxmlformats.org/drawingml/2006/table">
            <a:tbl>
              <a:tblPr/>
              <a:tblGrid>
                <a:gridCol w="576000"/>
                <a:gridCol w="504000"/>
                <a:gridCol w="432000"/>
                <a:gridCol w="360000"/>
                <a:gridCol w="540000"/>
                <a:gridCol w="2520000"/>
              </a:tblGrid>
              <a:tr h="2160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CN 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Pathway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function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Comments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aseline="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7" name="Rectangle 63"/>
          <p:cNvSpPr/>
          <p:nvPr/>
        </p:nvSpPr>
        <p:spPr>
          <a:xfrm>
            <a:off x="1677954" y="3741357"/>
            <a:ext cx="439743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/>
              <a:t>Variants of </a:t>
            </a:r>
            <a:r>
              <a:rPr lang="en-US" sz="1100" b="1" dirty="0" smtClean="0"/>
              <a:t>potential relevance</a:t>
            </a:r>
            <a:endParaRPr lang="en-US" sz="11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TABLE_BEAUTIFY" val="smartTable{7595d694-63b2-45bc-b32c-f75ad713031d}"/>
</p:tagLst>
</file>

<file path=ppt/tags/tag2.xml><?xml version="1.0" encoding="utf-8"?>
<p:tagLst xmlns:p="http://schemas.openxmlformats.org/presentationml/2006/main">
  <p:tag name="KSO_WM_UNIT_TABLE_BEAUTIFY" val="smartTable{9898d346-fadb-4fdf-b6fd-32c4869c2389}"/>
</p:tagLst>
</file>

<file path=ppt/tags/tag3.xml><?xml version="1.0" encoding="utf-8"?>
<p:tagLst xmlns:p="http://schemas.openxmlformats.org/presentationml/2006/main">
  <p:tag name="KSO_WM_UNIT_TABLE_BEAUTIFY" val="smartTable{7595d694-63b2-45bc-b32c-f75ad713031d}"/>
</p:tagLst>
</file>

<file path=ppt/tags/tag4.xml><?xml version="1.0" encoding="utf-8"?>
<p:tagLst xmlns:p="http://schemas.openxmlformats.org/presentationml/2006/main">
  <p:tag name="KSO_WM_UNIT_TABLE_BEAUTIFY" val="smartTable{9898d346-fadb-4fdf-b6fd-32c4869c2389}"/>
</p:tagLst>
</file>

<file path=ppt/tags/tag5.xml><?xml version="1.0" encoding="utf-8"?>
<p:tagLst xmlns:p="http://schemas.openxmlformats.org/presentationml/2006/main">
  <p:tag name="KSO_WM_UNIT_TABLE_BEAUTIFY" val="smartTable{7595d694-63b2-45bc-b32c-f75ad713031d}"/>
</p:tagLst>
</file>

<file path=ppt/tags/tag6.xml><?xml version="1.0" encoding="utf-8"?>
<p:tagLst xmlns:p="http://schemas.openxmlformats.org/presentationml/2006/main">
  <p:tag name="KSO_WM_UNIT_TABLE_BEAUTIFY" val="smartTable{9898d346-fadb-4fdf-b6fd-32c4869c2389}"/>
</p:tagLst>
</file>

<file path=ppt/tags/tag7.xml><?xml version="1.0" encoding="utf-8"?>
<p:tagLst xmlns:p="http://schemas.openxmlformats.org/presentationml/2006/main">
  <p:tag name="KSO_WM_UNIT_TABLE_BEAUTIFY" val="smartTable{a8cadbdc-018b-4b22-80bd-a2e7577c17d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6248</Words>
  <Application>WPS Presentation</Application>
  <PresentationFormat>Skjermfremvisning (16:9)</PresentationFormat>
  <Paragraphs>628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2" baseType="lpstr">
      <vt:lpstr>Arial</vt:lpstr>
      <vt:lpstr>SimSun</vt:lpstr>
      <vt:lpstr>Wingdings</vt:lpstr>
      <vt:lpstr>Times New Roman</vt:lpstr>
      <vt:lpstr>Calibri</vt:lpstr>
      <vt:lpstr>Helvetica Neue</vt:lpstr>
      <vt:lpstr>Arial</vt:lpstr>
      <vt:lpstr>Calibri Light</vt:lpstr>
      <vt:lpstr>Calibri</vt:lpstr>
      <vt:lpstr>Times New Roman</vt:lpstr>
      <vt:lpstr>Microsoft YaHei</vt:lpstr>
      <vt:lpstr>汉仪旗黑</vt:lpstr>
      <vt:lpstr>Arial Unicode MS</vt:lpstr>
      <vt:lpstr>Office Theme</vt:lpstr>
      <vt:lpstr>The following slide will be distributed for preparation before  the pre-Mol-MDT meeting</vt:lpstr>
      <vt:lpstr>PowerPoint 演示文稿</vt:lpstr>
      <vt:lpstr>The following slides are for  the molecular tumor board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Vigdis Nygaard</dc:creator>
  <cp:lastModifiedBy>xiaolizhang</cp:lastModifiedBy>
  <cp:revision>441</cp:revision>
  <dcterms:created xsi:type="dcterms:W3CDTF">2026-01-09T12:34:03Z</dcterms:created>
  <dcterms:modified xsi:type="dcterms:W3CDTF">2026-01-09T12:34:03Z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1033-12.1.23153.23153</vt:lpwstr>
  </property>
  <property fmtid="{D5CDD505-2E9C-101B-9397-08002B2CF9AE}" pid="3" name="ICV">
    <vt:lpwstr>8145C7D6AEFA8F0BEB657667E4E052B7_42</vt:lpwstr>
  </property>
</Properties>
</file>